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95" r:id="rId2"/>
    <p:sldId id="325" r:id="rId3"/>
    <p:sldId id="326" r:id="rId4"/>
    <p:sldId id="327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28" r:id="rId15"/>
    <p:sldId id="329" r:id="rId16"/>
    <p:sldId id="330" r:id="rId17"/>
    <p:sldId id="32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>
      <p:cViewPr varScale="1">
        <p:scale>
          <a:sx n="56" d="100"/>
          <a:sy n="56" d="100"/>
        </p:scale>
        <p:origin x="528" y="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Brainstorming Workshop - 2022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87227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8/30/2026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4" r:id="rId15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F014-595B-83F1-44E7-60F561FD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E816B90-7FC8-7390-0A37-463DDFFF18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8FFFDB90-E4AB-F55E-824D-E7B4A254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3050"/>
            <a:ext cx="4419599" cy="2393950"/>
          </a:xfrm>
        </p:spPr>
        <p:txBody>
          <a:bodyPr anchor="b">
            <a:normAutofit fontScale="90000"/>
          </a:bodyPr>
          <a:lstStyle/>
          <a:p>
            <a:r>
              <a:rPr lang="en-US" sz="4000" b="1" dirty="0"/>
              <a:t>Hybrid AI-based Detection of fileless malware in IOMT Healthcare systems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35799869-B1E6-2BCD-367A-A58EB580DEB7}"/>
              </a:ext>
            </a:extLst>
          </p:cNvPr>
          <p:cNvSpPr txBox="1">
            <a:spLocks/>
          </p:cNvSpPr>
          <p:nvPr/>
        </p:nvSpPr>
        <p:spPr>
          <a:xfrm>
            <a:off x="609601" y="3581400"/>
            <a:ext cx="4011084" cy="254476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R26-CS-006</a:t>
            </a:r>
          </a:p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D04F5B5-6FB6-9EDD-AB61-4BDC609189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054" y="0"/>
            <a:ext cx="7315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67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0C4F46-0BA3-B9D6-A023-5D9F20AB4E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64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C92D6CE-3F3D-BA7D-44B8-B96570B8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100" y="-2875"/>
            <a:ext cx="9067799" cy="1130300"/>
          </a:xfrm>
        </p:spPr>
        <p:txBody>
          <a:bodyPr>
            <a:normAutofit/>
          </a:bodyPr>
          <a:lstStyle/>
          <a:p>
            <a:r>
              <a:rPr lang="en-US" sz="5400" dirty="0"/>
              <a:t>Team Members </a:t>
            </a:r>
          </a:p>
        </p:txBody>
      </p:sp>
      <p:graphicFrame>
        <p:nvGraphicFramePr>
          <p:cNvPr id="6" name="Content Placeholder 7">
            <a:extLst>
              <a:ext uri="{FF2B5EF4-FFF2-40B4-BE49-F238E27FC236}">
                <a16:creationId xmlns:a16="http://schemas.microsoft.com/office/drawing/2014/main" id="{40ADFAF3-F2DD-DB13-F732-9D3F911DB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228607"/>
              </p:ext>
            </p:extLst>
          </p:nvPr>
        </p:nvGraphicFramePr>
        <p:xfrm>
          <a:off x="609600" y="2679940"/>
          <a:ext cx="6815136" cy="258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7568">
                  <a:extLst>
                    <a:ext uri="{9D8B030D-6E8A-4147-A177-3AD203B41FA5}">
                      <a16:colId xmlns:a16="http://schemas.microsoft.com/office/drawing/2014/main" val="34195208"/>
                    </a:ext>
                  </a:extLst>
                </a:gridCol>
                <a:gridCol w="3407568">
                  <a:extLst>
                    <a:ext uri="{9D8B030D-6E8A-4147-A177-3AD203B41FA5}">
                      <a16:colId xmlns:a16="http://schemas.microsoft.com/office/drawing/2014/main" val="1176105766"/>
                    </a:ext>
                  </a:extLst>
                </a:gridCol>
              </a:tblGrid>
              <a:tr h="517585">
                <a:tc>
                  <a:txBody>
                    <a:bodyPr/>
                    <a:lstStyle/>
                    <a:p>
                      <a:r>
                        <a:rPr lang="en-US" dirty="0"/>
                        <a:t>Student Nama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Number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917692"/>
                  </a:ext>
                </a:extLst>
              </a:tr>
              <a:tr h="517585">
                <a:tc>
                  <a:txBody>
                    <a:bodyPr/>
                    <a:lstStyle/>
                    <a:p>
                      <a:r>
                        <a:rPr lang="en-US" dirty="0"/>
                        <a:t>Chathuranga L.A.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IT22108272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596473"/>
                  </a:ext>
                </a:extLst>
              </a:tr>
              <a:tr h="517585">
                <a:tc>
                  <a:txBody>
                    <a:bodyPr/>
                    <a:lstStyle/>
                    <a:p>
                      <a:r>
                        <a:rPr lang="pt-BR" dirty="0"/>
                        <a:t>Fernando M.S. 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IT22080530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23837"/>
                  </a:ext>
                </a:extLst>
              </a:tr>
              <a:tr h="517585">
                <a:tc>
                  <a:txBody>
                    <a:bodyPr/>
                    <a:lstStyle/>
                    <a:p>
                      <a:r>
                        <a:rPr lang="en-US" dirty="0" err="1"/>
                        <a:t>Pagodaarachchi</a:t>
                      </a:r>
                      <a:r>
                        <a:rPr lang="en-US" dirty="0"/>
                        <a:t> R.T.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IT22135070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259927"/>
                  </a:ext>
                </a:extLst>
              </a:tr>
              <a:tr h="517585">
                <a:tc>
                  <a:txBody>
                    <a:bodyPr/>
                    <a:lstStyle/>
                    <a:p>
                      <a:r>
                        <a:rPr lang="en-US" dirty="0"/>
                        <a:t>Shakya W.A.R.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IT22210142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609212"/>
                  </a:ext>
                </a:extLst>
              </a:tr>
            </a:tbl>
          </a:graphicData>
        </a:graphic>
      </p:graphicFrame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ECDE2B1-B8F7-1D89-D381-F7C5E0D92A8C}"/>
              </a:ext>
            </a:extLst>
          </p:cNvPr>
          <p:cNvSpPr txBox="1">
            <a:spLocks/>
          </p:cNvSpPr>
          <p:nvPr/>
        </p:nvSpPr>
        <p:spPr>
          <a:xfrm>
            <a:off x="609600" y="1435101"/>
            <a:ext cx="11277599" cy="123189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Supervisor – Mr. </a:t>
            </a:r>
            <a:r>
              <a:rPr lang="en-US" sz="2400" b="1"/>
              <a:t>Knishka Yapa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Co-Supervisor – Mr. </a:t>
            </a:r>
            <a:r>
              <a:rPr lang="en-US" sz="2400" b="1" dirty="0" err="1"/>
              <a:t>Dinith</a:t>
            </a:r>
            <a:r>
              <a:rPr lang="en-US" sz="2400" b="1" dirty="0"/>
              <a:t> Primal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F3567D-1211-0F2D-6F95-E1E3A3859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690" y="1524000"/>
            <a:ext cx="6072443" cy="428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00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2576A5-CA6C-B873-244A-152AF6824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506" y="12940"/>
            <a:ext cx="12192000" cy="6858000"/>
          </a:xfrm>
          <a:prstGeom prst="rect">
            <a:avLst/>
          </a:prstGeom>
        </p:spPr>
      </p:pic>
      <p:sp>
        <p:nvSpPr>
          <p:cNvPr id="5" name="Title 5">
            <a:extLst>
              <a:ext uri="{FF2B5EF4-FFF2-40B4-BE49-F238E27FC236}">
                <a16:creationId xmlns:a16="http://schemas.microsoft.com/office/drawing/2014/main" id="{36E8EA4E-E90B-D009-49C8-8EAFB2D2C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008" y="152400"/>
            <a:ext cx="1051560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dirty="0">
                <a:highlight>
                  <a:srgbClr val="FFFF00"/>
                </a:highlight>
              </a:rPr>
              <a:t>Hybrid AI-based Detection of fileless malware in IOMT Healthcare systems </a:t>
            </a:r>
            <a:br>
              <a:rPr lang="en-US" dirty="0">
                <a:highlight>
                  <a:srgbClr val="FFFF00"/>
                </a:highlight>
              </a:rPr>
            </a:b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9786FA6-B677-9E7A-988F-BDE87043F618}"/>
              </a:ext>
            </a:extLst>
          </p:cNvPr>
          <p:cNvSpPr txBox="1">
            <a:spLocks/>
          </p:cNvSpPr>
          <p:nvPr/>
        </p:nvSpPr>
        <p:spPr>
          <a:xfrm>
            <a:off x="381000" y="1371600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u="sng" dirty="0"/>
              <a:t>Main research Problem</a:t>
            </a:r>
            <a:r>
              <a:rPr lang="en-US" sz="1800" dirty="0"/>
              <a:t> </a:t>
            </a:r>
          </a:p>
          <a:p>
            <a:r>
              <a:rPr lang="en-US" sz="1800" dirty="0"/>
              <a:t>The existing solution for the IOMT security cannot effectively detect fileless malware attacks and lateral movement. </a:t>
            </a:r>
          </a:p>
          <a:p>
            <a:r>
              <a:rPr lang="en-US" sz="1800" dirty="0"/>
              <a:t>These attacks abuse the legitimate process to bypass the security of the IOMT environment.</a:t>
            </a:r>
          </a:p>
          <a:p>
            <a:pPr marL="0" indent="0">
              <a:buNone/>
            </a:pPr>
            <a:r>
              <a:rPr lang="en-US" sz="1800" b="1" u="sng" dirty="0"/>
              <a:t>Problem Impact</a:t>
            </a:r>
          </a:p>
          <a:p>
            <a:r>
              <a:rPr lang="en-US" sz="1800" dirty="0"/>
              <a:t>Patient safety risk.</a:t>
            </a:r>
          </a:p>
          <a:p>
            <a:r>
              <a:rPr lang="en-US" sz="1800" dirty="0"/>
              <a:t>Healthcare service disruptions.</a:t>
            </a:r>
          </a:p>
          <a:p>
            <a:r>
              <a:rPr lang="en-US" sz="1800" dirty="0"/>
              <a:t>Sensitive patient data exposure.</a:t>
            </a:r>
          </a:p>
          <a:p>
            <a:r>
              <a:rPr lang="en-US" sz="1800" dirty="0"/>
              <a:t>Attacks would not be detected.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79A734-8A4D-F062-8F87-AE9FEA2AD596}"/>
              </a:ext>
            </a:extLst>
          </p:cNvPr>
          <p:cNvSpPr txBox="1"/>
          <p:nvPr/>
        </p:nvSpPr>
        <p:spPr>
          <a:xfrm>
            <a:off x="6096000" y="1342845"/>
            <a:ext cx="61635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Users that benefits from our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Hospital and healthcare organizations.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SOC Analyst and cyber security teams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Medical device manufactures.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Healthcare regulator bodies.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F89ECB-22BE-15AA-8AEE-ADF159A91264}"/>
              </a:ext>
            </a:extLst>
          </p:cNvPr>
          <p:cNvSpPr txBox="1"/>
          <p:nvPr/>
        </p:nvSpPr>
        <p:spPr>
          <a:xfrm>
            <a:off x="5991047" y="3441940"/>
            <a:ext cx="61635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Design excellence of the overall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Hybrid AI-based multi layer architecture.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 layer correlation.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IOMT specified and healthcare systems awareness.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Explainable Ai dashboard using SHAP explanation.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 time attack sequences and risk escalation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384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9817B7-1A50-D64E-55F0-25534E1831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13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3791E5-3393-5B7F-9B54-D150658E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Hybrid AI-based Detection of fileless malware in IOMT Healthcare systems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7579-C002-52BF-5609-FFD95E89E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Comment from the proposal presentation.</a:t>
            </a:r>
          </a:p>
          <a:p>
            <a:r>
              <a:rPr lang="en-US" sz="2400" dirty="0"/>
              <a:t>Shakya W.A.R- Focus more on the applicability of the proposed solution.</a:t>
            </a:r>
          </a:p>
          <a:p>
            <a:endParaRPr lang="en-US" sz="2400" dirty="0"/>
          </a:p>
          <a:p>
            <a:r>
              <a:rPr lang="en-US" sz="2400" dirty="0"/>
              <a:t>Chathuranga L.A. S – Was unable to clearly present the idea about the individual component according to the presented topic in the slide.</a:t>
            </a:r>
          </a:p>
          <a:p>
            <a:endParaRPr lang="en-US" sz="2400" dirty="0"/>
          </a:p>
          <a:p>
            <a:r>
              <a:rPr lang="pt-BR" sz="2400" dirty="0"/>
              <a:t>Fernando M.S. V – Should focus on finding a correct dataset for the component .</a:t>
            </a:r>
          </a:p>
          <a:p>
            <a:endParaRPr lang="pt-BR" sz="2400" dirty="0"/>
          </a:p>
          <a:p>
            <a:r>
              <a:rPr lang="en-US" sz="2400" dirty="0" err="1"/>
              <a:t>Pagodaarachchi</a:t>
            </a:r>
            <a:r>
              <a:rPr lang="en-US" sz="2400" dirty="0"/>
              <a:t> R.T – Has an issue with the selected dataset for the component.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56038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346FD-B7EE-3301-E61F-000694B3BA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931532C-411D-8834-E006-B7D44B4CA12B}"/>
              </a:ext>
            </a:extLst>
          </p:cNvPr>
          <p:cNvSpPr txBox="1">
            <a:spLocks/>
          </p:cNvSpPr>
          <p:nvPr/>
        </p:nvSpPr>
        <p:spPr>
          <a:xfrm>
            <a:off x="1143000" y="3429000"/>
            <a:ext cx="10363200" cy="2308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Specialization :</a:t>
            </a:r>
          </a:p>
          <a:p>
            <a:pPr marL="0" indent="0">
              <a:buNone/>
            </a:pPr>
            <a:r>
              <a:rPr lang="en-US" dirty="0"/>
              <a:t>Cyber security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14A6BD-F26C-23DD-F122-7CC7C7392F9E}"/>
              </a:ext>
            </a:extLst>
          </p:cNvPr>
          <p:cNvSpPr/>
          <p:nvPr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5EA864-9DC5-BA7F-1E2F-F69A56EEBF7C}"/>
              </a:ext>
            </a:extLst>
          </p:cNvPr>
          <p:cNvSpPr/>
          <p:nvPr/>
        </p:nvSpPr>
        <p:spPr>
          <a:xfrm>
            <a:off x="2632434" y="6492875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IT22108272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b="1" dirty="0">
                <a:solidFill>
                  <a:schemeClr val="tx1"/>
                </a:solidFill>
              </a:rPr>
              <a:t>CHATHURANGA L A </a:t>
            </a:r>
            <a:r>
              <a:rPr lang="en-US" b="1" dirty="0">
                <a:solidFill>
                  <a:schemeClr val="tx1"/>
                </a:solidFill>
              </a:rPr>
              <a:t>S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R26-CS-006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2A0BE-82E2-542C-D0C8-C811C27BFF2E}"/>
              </a:ext>
            </a:extLst>
          </p:cNvPr>
          <p:cNvSpPr txBox="1"/>
          <p:nvPr/>
        </p:nvSpPr>
        <p:spPr>
          <a:xfrm>
            <a:off x="683467" y="2015068"/>
            <a:ext cx="9525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IT22108272</a:t>
            </a:r>
            <a:r>
              <a:rPr lang="en-US" sz="4000" dirty="0">
                <a:solidFill>
                  <a:schemeClr val="tx1"/>
                </a:solidFill>
              </a:rPr>
              <a:t>   |   </a:t>
            </a:r>
            <a:r>
              <a:rPr lang="en-US" sz="4000" b="1" dirty="0"/>
              <a:t>CHATHURANGA L.A.S</a:t>
            </a:r>
            <a:r>
              <a:rPr lang="en-US" sz="4000" b="1" dirty="0">
                <a:solidFill>
                  <a:schemeClr val="tx1"/>
                </a:solidFill>
              </a:rPr>
              <a:t>   </a:t>
            </a:r>
            <a:endParaRPr lang="en-US" sz="4000" b="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94C2CC-4070-EFB1-651C-C8941BEF3102}"/>
              </a:ext>
            </a:extLst>
          </p:cNvPr>
          <p:cNvSpPr txBox="1"/>
          <p:nvPr/>
        </p:nvSpPr>
        <p:spPr>
          <a:xfrm>
            <a:off x="647700" y="232559"/>
            <a:ext cx="883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CDICOM Medical Imaging Network Anomaly Detection </a:t>
            </a:r>
          </a:p>
          <a:p>
            <a:pPr algn="ctr"/>
            <a:endParaRPr lang="en-US" sz="3200" b="1" u="sng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172DFD-69DE-1B82-5BCE-C193DB8615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12441"/>
            <a:ext cx="25146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684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141D18-F9D8-B242-BFE0-3E23926BA2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64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B4E0511-4AF1-3726-1BF0-175BB07AF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84" y="81032"/>
            <a:ext cx="10515600" cy="10064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highlight>
                  <a:srgbClr val="FFFF00"/>
                </a:highlight>
              </a:rPr>
              <a:t>DICOM Medical Imaging Network Anomaly Detection </a:t>
            </a:r>
            <a:endParaRPr lang="en-US" sz="36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371EA-D652-4500-A99B-F46A3BFBEAC4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/>
          </a:p>
          <a:p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004727-695A-6616-9F7C-D7FB8A6F8682}"/>
              </a:ext>
            </a:extLst>
          </p:cNvPr>
          <p:cNvSpPr txBox="1"/>
          <p:nvPr/>
        </p:nvSpPr>
        <p:spPr>
          <a:xfrm>
            <a:off x="3505200" y="6272343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IT22108272 | CHATHURANGA L A S | R26-CS-006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983415C-129C-5936-067A-419C10A01300}"/>
              </a:ext>
            </a:extLst>
          </p:cNvPr>
          <p:cNvSpPr txBox="1"/>
          <p:nvPr/>
        </p:nvSpPr>
        <p:spPr>
          <a:xfrm>
            <a:off x="5525961" y="1554951"/>
            <a:ext cx="6476999" cy="43396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b="1" dirty="0"/>
              <a:t>How the Solution will address the Sub-Problem</a:t>
            </a:r>
          </a:p>
          <a:p>
            <a:pPr>
              <a:lnSpc>
                <a:spcPct val="150000"/>
              </a:lnSpc>
            </a:pPr>
            <a:endParaRPr lang="en-US" sz="2000" b="1" dirty="0"/>
          </a:p>
          <a:p>
            <a:r>
              <a:rPr lang="en-US" dirty="0"/>
              <a:t>• Monitors DICOM/PACS communication between hospital devices, PACS server, and remote doctor.</a:t>
            </a:r>
          </a:p>
          <a:p>
            <a:r>
              <a:rPr lang="en-US" dirty="0"/>
              <a:t>• Captures DICOM network traffic using Wireshark.</a:t>
            </a:r>
          </a:p>
          <a:p>
            <a:r>
              <a:rPr lang="en-US" dirty="0"/>
              <a:t>• Analyzes traffic to identify normal and abnormal communication behavior.</a:t>
            </a:r>
          </a:p>
          <a:p>
            <a:r>
              <a:rPr lang="en-US" dirty="0"/>
              <a:t>• Detects suspicious activities such as unauthorized access and abnormal image transfer.</a:t>
            </a:r>
          </a:p>
          <a:p>
            <a:r>
              <a:rPr lang="en-US" dirty="0"/>
              <a:t>• Verifies whether the received medical image is original or tampered.</a:t>
            </a:r>
          </a:p>
          <a:p>
            <a:r>
              <a:rPr lang="en-US" dirty="0"/>
              <a:t>• Generates security alerts for abnormal traffic and image tampering detection.</a:t>
            </a:r>
          </a:p>
          <a:p>
            <a:endParaRPr lang="en-US" b="1" dirty="0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3612E8E2-52B1-86AC-4A61-EF63F6A3DE4C}"/>
              </a:ext>
            </a:extLst>
          </p:cNvPr>
          <p:cNvSpPr txBox="1"/>
          <p:nvPr/>
        </p:nvSpPr>
        <p:spPr>
          <a:xfrm>
            <a:off x="42721" y="914400"/>
            <a:ext cx="5389162" cy="54476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b="1" dirty="0"/>
              <a:t>Sub-Problem</a:t>
            </a:r>
          </a:p>
          <a:p>
            <a:pPr>
              <a:lnSpc>
                <a:spcPct val="150000"/>
              </a:lnSpc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Existing systems cannot properly monitor DICOM/PACS medical imaging communication.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Medical images can be modified or tampered during transmission without immediate detection.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Unauthorized users or attackers can access PACS systems and transfer medical images secretly.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Traditional security systems struggle to detect abnormal DICOM traffic and suspicious image transfer behavior in real-time.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Hospitals require a secure way to verify whether the medical image received by the remote doctor is original or altered. </a:t>
            </a:r>
          </a:p>
        </p:txBody>
      </p:sp>
    </p:spTree>
    <p:extLst>
      <p:ext uri="{BB962C8B-B14F-4D97-AF65-F5344CB8AC3E}">
        <p14:creationId xmlns:p14="http://schemas.microsoft.com/office/powerpoint/2010/main" val="4097627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3C2FC2-FB44-8815-0BA5-E3E725A867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F50499-7DAF-B8EF-5E03-FC7D9222A166}"/>
              </a:ext>
            </a:extLst>
          </p:cNvPr>
          <p:cNvSpPr txBox="1"/>
          <p:nvPr/>
        </p:nvSpPr>
        <p:spPr>
          <a:xfrm>
            <a:off x="2883693" y="6488668"/>
            <a:ext cx="6163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IT22</a:t>
            </a:r>
            <a:r>
              <a:rPr lang="si-LK" b="1" dirty="0"/>
              <a:t>108272</a:t>
            </a:r>
            <a:r>
              <a:rPr lang="en-US" b="1" dirty="0"/>
              <a:t> | CHATHURANGA L A S | R26-CS-006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3E942BE1-3BB8-29F1-E551-3ED11FF739D7}"/>
              </a:ext>
            </a:extLst>
          </p:cNvPr>
          <p:cNvSpPr txBox="1"/>
          <p:nvPr/>
        </p:nvSpPr>
        <p:spPr>
          <a:xfrm>
            <a:off x="345728" y="1299769"/>
            <a:ext cx="11239501" cy="204671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b="1" dirty="0"/>
              <a:t>Design Excellence/Contribution</a:t>
            </a:r>
          </a:p>
          <a:p>
            <a:r>
              <a:rPr lang="en-US" sz="2000" dirty="0"/>
              <a:t>• Real-time DICOM/PACS traffic monitoring using </a:t>
            </a:r>
            <a:r>
              <a:rPr lang="en-US" sz="2000" dirty="0" err="1"/>
              <a:t>Orthanc</a:t>
            </a:r>
            <a:r>
              <a:rPr lang="en-US" sz="2000" dirty="0"/>
              <a:t> PACS and Wireshark</a:t>
            </a:r>
          </a:p>
          <a:p>
            <a:r>
              <a:rPr lang="en-US" sz="2000" dirty="0"/>
              <a:t>• Detects abnormal medical imaging communication and suspicious PACS behavior</a:t>
            </a:r>
          </a:p>
          <a:p>
            <a:r>
              <a:rPr lang="en-US" sz="2000" dirty="0"/>
              <a:t>• Verifies whether the medical image received by the remote doctor is original or tampered</a:t>
            </a:r>
          </a:p>
          <a:p>
            <a:r>
              <a:rPr lang="en-US" sz="2000" dirty="0"/>
              <a:t>• Uses Random Forest based anomaly detection for healthcare network traffic</a:t>
            </a:r>
          </a:p>
          <a:p>
            <a:r>
              <a:rPr lang="en-US" sz="2000" dirty="0"/>
              <a:t>• Supports healthcare cybersecurity and secure remote diagnosis environments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F82F591C-B6C8-CD6D-C498-1C56F2A97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84" y="81032"/>
            <a:ext cx="10515600" cy="10064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highlight>
                  <a:srgbClr val="FFFF00"/>
                </a:highlight>
              </a:rPr>
              <a:t>DICOM Medical Imaging Network Anomaly Detection </a:t>
            </a:r>
            <a:endParaRPr lang="en-US" sz="36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2F47E-FA85-1D43-D7BE-3A1ADF9F8D2C}"/>
              </a:ext>
            </a:extLst>
          </p:cNvPr>
          <p:cNvSpPr txBox="1"/>
          <p:nvPr/>
        </p:nvSpPr>
        <p:spPr>
          <a:xfrm>
            <a:off x="345728" y="3776783"/>
            <a:ext cx="11239501" cy="198701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b="1" dirty="0"/>
              <a:t>Future Work</a:t>
            </a:r>
            <a:endParaRPr lang="si-LK" b="1" dirty="0"/>
          </a:p>
          <a:p>
            <a:r>
              <a:rPr lang="en-US" dirty="0"/>
              <a:t>• Improve real-time DICOM/PACS traffic monitoring and alert generation</a:t>
            </a:r>
          </a:p>
          <a:p>
            <a:r>
              <a:rPr lang="en-US" dirty="0"/>
              <a:t>• Enhance the </a:t>
            </a:r>
            <a:r>
              <a:rPr lang="en-US" dirty="0" err="1"/>
              <a:t>Streamlit</a:t>
            </a:r>
            <a:r>
              <a:rPr lang="en-US" dirty="0"/>
              <a:t> dashboard with advanced visualizations and live monitoring</a:t>
            </a:r>
          </a:p>
          <a:p>
            <a:r>
              <a:rPr lang="en-US" dirty="0"/>
              <a:t>• Improve automated image tampering detection and security validation</a:t>
            </a:r>
          </a:p>
          <a:p>
            <a:r>
              <a:rPr lang="en-US" dirty="0"/>
              <a:t>• Expand testing using larger real-world healthcare datasets</a:t>
            </a:r>
          </a:p>
          <a:p>
            <a:pPr>
              <a:lnSpc>
                <a:spcPct val="150000"/>
              </a:lnSpc>
            </a:pPr>
            <a:endParaRPr lang="si-LK" b="1" dirty="0"/>
          </a:p>
        </p:txBody>
      </p:sp>
    </p:spTree>
    <p:extLst>
      <p:ext uri="{BB962C8B-B14F-4D97-AF65-F5344CB8AC3E}">
        <p14:creationId xmlns:p14="http://schemas.microsoft.com/office/powerpoint/2010/main" val="178010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26F71C-3BE6-1DE9-BA10-3F9D8C3D16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41" y="0"/>
            <a:ext cx="12192000" cy="6858000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00A0BC4-811E-19DA-4ADC-53CFE8624194}"/>
              </a:ext>
            </a:extLst>
          </p:cNvPr>
          <p:cNvSpPr txBox="1">
            <a:spLocks/>
          </p:cNvSpPr>
          <p:nvPr/>
        </p:nvSpPr>
        <p:spPr>
          <a:xfrm>
            <a:off x="1143000" y="3886200"/>
            <a:ext cx="10363200" cy="1851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Specialization :</a:t>
            </a:r>
          </a:p>
          <a:p>
            <a:pPr marL="0" indent="0">
              <a:buNone/>
            </a:pPr>
            <a:r>
              <a:rPr lang="en-US" dirty="0"/>
              <a:t>Cyber security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BA486C-E133-84B0-7C46-DC73CAC439B9}"/>
              </a:ext>
            </a:extLst>
          </p:cNvPr>
          <p:cNvSpPr/>
          <p:nvPr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AD1ABB-6BCD-DF0C-1CC5-ADCCF13313AF}"/>
              </a:ext>
            </a:extLst>
          </p:cNvPr>
          <p:cNvSpPr/>
          <p:nvPr/>
        </p:nvSpPr>
        <p:spPr>
          <a:xfrm>
            <a:off x="2632434" y="6492875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IT22080530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b="1" dirty="0">
                <a:solidFill>
                  <a:schemeClr val="tx1"/>
                </a:solidFill>
              </a:rPr>
              <a:t>Fernando M.S.V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R26-CS-006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B1B88B-B9C3-696E-A08D-60D97EB20E3B}"/>
              </a:ext>
            </a:extLst>
          </p:cNvPr>
          <p:cNvSpPr txBox="1"/>
          <p:nvPr/>
        </p:nvSpPr>
        <p:spPr>
          <a:xfrm>
            <a:off x="1143000" y="2321390"/>
            <a:ext cx="7391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IT22080530</a:t>
            </a:r>
            <a:r>
              <a:rPr lang="en-US" sz="4000" dirty="0">
                <a:solidFill>
                  <a:schemeClr val="tx1"/>
                </a:solidFill>
              </a:rPr>
              <a:t>   |   </a:t>
            </a:r>
            <a:r>
              <a:rPr lang="en-US" sz="4000" b="1" dirty="0"/>
              <a:t>M.S.V Fernando</a:t>
            </a:r>
            <a:r>
              <a:rPr lang="en-US" sz="4000" b="1" dirty="0">
                <a:solidFill>
                  <a:schemeClr val="tx1"/>
                </a:solidFill>
              </a:rPr>
              <a:t>   </a:t>
            </a:r>
            <a:endParaRPr lang="en-US" sz="4000" b="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D946D-DC63-1F71-5596-E77A24E0777A}"/>
              </a:ext>
            </a:extLst>
          </p:cNvPr>
          <p:cNvSpPr txBox="1"/>
          <p:nvPr/>
        </p:nvSpPr>
        <p:spPr>
          <a:xfrm>
            <a:off x="647700" y="535777"/>
            <a:ext cx="883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PowerShell based fileless malware detection.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5ECCEC-2F46-22FE-A783-C87554B22E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146014"/>
            <a:ext cx="2057400" cy="244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15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AA2065-81F9-18CC-6AA7-4564EC0136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64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DC6BF0E-8B27-47CD-F965-B8D47470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  <a:latin typeface="+mj-lt"/>
                <a:cs typeface="+mj-cs"/>
              </a:rPr>
              <a:t>PowerShell based fileless malware detection</a:t>
            </a:r>
            <a:r>
              <a:rPr lang="en-US" kern="1200" dirty="0">
                <a:highlight>
                  <a:srgbClr val="FFFF00"/>
                </a:highlight>
                <a:latin typeface="+mj-lt"/>
                <a:ea typeface="+mj-ea"/>
                <a:cs typeface="+mj-cs"/>
              </a:rPr>
              <a:t>.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D3BA04-289E-3662-A802-09BD0562669A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/>
          </a:p>
          <a:p>
            <a:endParaRPr lang="en-US" b="1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CB34EEF-5C6A-E16D-3118-F93C72410233}"/>
              </a:ext>
            </a:extLst>
          </p:cNvPr>
          <p:cNvSpPr txBox="1">
            <a:spLocks/>
          </p:cNvSpPr>
          <p:nvPr/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4200" b="1" u="sng" dirty="0"/>
              <a:t>How the solution address the sub-problem </a:t>
            </a:r>
            <a:r>
              <a:rPr lang="en-US" sz="4200" dirty="0"/>
              <a:t> 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C0A471-61C7-61E0-24EF-318D874F6674}"/>
              </a:ext>
            </a:extLst>
          </p:cNvPr>
          <p:cNvSpPr txBox="1"/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Monitors PowerShell and WMI activities.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Detects encoded and obfuscated commands.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Identifies abnormal parent-child process behavior.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Detects abnormal parent-child process relationships.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dirty="0" err="1"/>
              <a:t>XGBoost</a:t>
            </a:r>
            <a:r>
              <a:rPr lang="en-US" sz="1600" dirty="0"/>
              <a:t> and LSTM to detect malicious patterns.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Generates alerts for suspicious activities.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Creates a dashboard to display detection results, alerts, and confidence scores.</a:t>
            </a:r>
            <a:endParaRPr lang="en-US" sz="20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7CFC3-E989-2E12-882E-93F7481B9029}"/>
              </a:ext>
            </a:extLst>
          </p:cNvPr>
          <p:cNvSpPr txBox="1"/>
          <p:nvPr/>
        </p:nvSpPr>
        <p:spPr>
          <a:xfrm>
            <a:off x="185468" y="2096534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u="sng" dirty="0"/>
              <a:t>Sub-problem.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Traditional antivirus solutions cannot properly detect fileless malware.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Fileless malware executes directly in memory without creating files.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Attackers misuse trusted tools such as PowerShell and WMI.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PowerShell attacks can bypass signature-based security systems.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IoMT healthcare systems are vulnerable to stealthy PowerShell attacks.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8AF1EC-4EB6-EA8A-2C33-77D12268409C}"/>
              </a:ext>
            </a:extLst>
          </p:cNvPr>
          <p:cNvSpPr txBox="1"/>
          <p:nvPr/>
        </p:nvSpPr>
        <p:spPr>
          <a:xfrm>
            <a:off x="3505200" y="6272343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IT22080530 | Fernando M.S.V | R26-CS-006</a:t>
            </a:r>
          </a:p>
        </p:txBody>
      </p:sp>
    </p:spTree>
    <p:extLst>
      <p:ext uri="{BB962C8B-B14F-4D97-AF65-F5344CB8AC3E}">
        <p14:creationId xmlns:p14="http://schemas.microsoft.com/office/powerpoint/2010/main" val="599530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2B1059-EA0C-7CF2-EFF0-7977782ACB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4AF38E4-60FC-2532-DB1E-4B0BDCAD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  <a:latin typeface="+mj-lt"/>
                <a:cs typeface="+mj-cs"/>
              </a:rPr>
              <a:t>PowerShell based fileless malware detection</a:t>
            </a: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C0977E7-93EC-9575-9736-9998B10C6E48}"/>
              </a:ext>
            </a:extLst>
          </p:cNvPr>
          <p:cNvSpPr txBox="1">
            <a:spLocks/>
          </p:cNvSpPr>
          <p:nvPr/>
        </p:nvSpPr>
        <p:spPr>
          <a:xfrm>
            <a:off x="457200" y="2055812"/>
            <a:ext cx="5005387" cy="36845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000" b="1" u="sng" dirty="0"/>
              <a:t>Design Excellence \Contribution.</a:t>
            </a:r>
          </a:p>
          <a:p>
            <a:r>
              <a:rPr lang="en-US" sz="1600" dirty="0"/>
              <a:t>Developed a hybrid AI-based detection framework combining:</a:t>
            </a:r>
          </a:p>
          <a:p>
            <a:pPr lvl="2"/>
            <a:r>
              <a:rPr lang="en-US" sz="1600" dirty="0" err="1"/>
              <a:t>XGBoost</a:t>
            </a:r>
            <a:r>
              <a:rPr lang="en-US" sz="1600" dirty="0"/>
              <a:t> classification </a:t>
            </a:r>
          </a:p>
          <a:p>
            <a:pPr lvl="2"/>
            <a:r>
              <a:rPr lang="en-US" sz="1600" dirty="0"/>
              <a:t>LSTM sequence analysis</a:t>
            </a:r>
          </a:p>
          <a:p>
            <a:r>
              <a:rPr lang="en-US" sz="1600" dirty="0"/>
              <a:t>Implemented behavioral feature extraction from:</a:t>
            </a:r>
          </a:p>
          <a:p>
            <a:pPr lvl="2"/>
            <a:r>
              <a:rPr lang="en-US" sz="1600" dirty="0"/>
              <a:t>Sysmon logs</a:t>
            </a:r>
          </a:p>
          <a:p>
            <a:pPr lvl="2"/>
            <a:r>
              <a:rPr lang="en-US" sz="1600" dirty="0"/>
              <a:t>PowerShell events</a:t>
            </a:r>
          </a:p>
          <a:p>
            <a:pPr lvl="2"/>
            <a:r>
              <a:rPr lang="en-US" sz="1600" dirty="0"/>
              <a:t>WMI activities</a:t>
            </a:r>
          </a:p>
          <a:p>
            <a:r>
              <a:rPr lang="en-US" sz="1600" dirty="0"/>
              <a:t>Created a real-time dashboard to visualize alerts and detection results.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E976F-FA1C-29C5-7A83-21173A9D146A}"/>
              </a:ext>
            </a:extLst>
          </p:cNvPr>
          <p:cNvSpPr txBox="1"/>
          <p:nvPr/>
        </p:nvSpPr>
        <p:spPr>
          <a:xfrm>
            <a:off x="2883693" y="6488668"/>
            <a:ext cx="6163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IT22080530 | Fernando M.S.V | R26-CS-006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847B9FD-2BA0-E58C-6474-189733262E94}"/>
              </a:ext>
            </a:extLst>
          </p:cNvPr>
          <p:cNvSpPr txBox="1">
            <a:spLocks/>
          </p:cNvSpPr>
          <p:nvPr/>
        </p:nvSpPr>
        <p:spPr>
          <a:xfrm>
            <a:off x="6096000" y="2055812"/>
            <a:ext cx="5005387" cy="16779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000" b="1" u="sng" dirty="0"/>
              <a:t>Future implementation</a:t>
            </a:r>
          </a:p>
          <a:p>
            <a:r>
              <a:rPr lang="en-US" sz="1600" dirty="0"/>
              <a:t>Base64 encoded commands detect </a:t>
            </a:r>
          </a:p>
          <a:p>
            <a:r>
              <a:rPr lang="en-US" sz="1600" dirty="0"/>
              <a:t>Obfuscated PowerShell commands decode </a:t>
            </a:r>
          </a:p>
          <a:p>
            <a:r>
              <a:rPr lang="en-US" sz="1600" dirty="0"/>
              <a:t>Hidden malicious keywords identify </a:t>
            </a:r>
          </a:p>
          <a:p>
            <a:r>
              <a:rPr lang="en-US" sz="1600" dirty="0"/>
              <a:t>Dangerous PowerShell functions analyze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FB7C6-9FF1-86A3-0228-160F303721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771" t="-33745" r="-11006" b="6079"/>
          <a:stretch/>
        </p:blipFill>
        <p:spPr>
          <a:xfrm>
            <a:off x="5474494" y="3276600"/>
            <a:ext cx="4114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37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A9BB67-42F1-995D-E40F-B0006A3305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0D3FA55-1525-E42C-F216-C73A96BA49C0}"/>
              </a:ext>
            </a:extLst>
          </p:cNvPr>
          <p:cNvSpPr txBox="1">
            <a:spLocks/>
          </p:cNvSpPr>
          <p:nvPr/>
        </p:nvSpPr>
        <p:spPr>
          <a:xfrm>
            <a:off x="1219200" y="4554787"/>
            <a:ext cx="10363200" cy="14099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Specialization :</a:t>
            </a:r>
          </a:p>
          <a:p>
            <a:pPr marL="0" indent="0">
              <a:buNone/>
            </a:pPr>
            <a:r>
              <a:rPr lang="en-US" dirty="0"/>
              <a:t>Cyber security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AED51E-504C-B814-2E8F-BB1322378887}"/>
              </a:ext>
            </a:extLst>
          </p:cNvPr>
          <p:cNvSpPr/>
          <p:nvPr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C722B-6E0B-6918-B54E-2DA0F2184EBD}"/>
              </a:ext>
            </a:extLst>
          </p:cNvPr>
          <p:cNvSpPr txBox="1"/>
          <p:nvPr/>
        </p:nvSpPr>
        <p:spPr>
          <a:xfrm>
            <a:off x="1219200" y="3447177"/>
            <a:ext cx="83439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Devanagari" pitchFamily="18" charset="0"/>
                <a:ea typeface="+mj-ea"/>
              </a:rPr>
              <a:t>IT22135070 | PAGODAARACHCHI R. T.</a:t>
            </a:r>
            <a:endParaRPr lang="en-US" sz="4000" b="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A6DD-5CCA-1372-23AD-184E25BF4B95}"/>
              </a:ext>
            </a:extLst>
          </p:cNvPr>
          <p:cNvSpPr txBox="1"/>
          <p:nvPr/>
        </p:nvSpPr>
        <p:spPr>
          <a:xfrm>
            <a:off x="574729" y="1061869"/>
            <a:ext cx="883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Predictive IoMT Threat Forecasting Engine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F8061A-CD87-7DFB-17C9-F05E803F8F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9" t="3333" r="25000" b="54444"/>
          <a:stretch>
            <a:fillRect/>
          </a:stretch>
        </p:blipFill>
        <p:spPr>
          <a:xfrm>
            <a:off x="10130590" y="147571"/>
            <a:ext cx="2061410" cy="23670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39B77E-8B3F-D36D-E766-603FEB7B221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IT22135070</a:t>
            </a:r>
            <a:r>
              <a:rPr lang="en-US" sz="1800" dirty="0">
                <a:solidFill>
                  <a:schemeClr val="tx1"/>
                </a:solidFill>
              </a:rPr>
              <a:t>  |   </a:t>
            </a:r>
            <a:r>
              <a:rPr lang="en-US" dirty="0" err="1">
                <a:solidFill>
                  <a:schemeClr val="tx1"/>
                </a:solidFill>
              </a:rPr>
              <a:t>Pagodaarachchi</a:t>
            </a:r>
            <a:r>
              <a:rPr lang="en-US" dirty="0">
                <a:solidFill>
                  <a:schemeClr val="tx1"/>
                </a:solidFill>
              </a:rPr>
              <a:t> R. T.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R26-CS-006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721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CD0135-A825-F9EB-41D3-57ACD24AE1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483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F332310-C76E-609F-B731-3962D044B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highlight>
                  <a:srgbClr val="FFFF00"/>
                </a:highlight>
                <a:latin typeface="+mj-lt"/>
                <a:ea typeface="+mj-ea"/>
                <a:cs typeface="+mj-cs"/>
              </a:rPr>
              <a:t>Predictive IoMT Threat Forecasting Engine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926EB8-D045-C388-D4C8-0126B6E2952E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  <a:p>
            <a:endParaRPr lang="en-US" b="1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CB59871-6AA3-FE4C-1399-B5E0B201CF3E}"/>
              </a:ext>
            </a:extLst>
          </p:cNvPr>
          <p:cNvSpPr txBox="1">
            <a:spLocks/>
          </p:cNvSpPr>
          <p:nvPr/>
        </p:nvSpPr>
        <p:spPr>
          <a:xfrm>
            <a:off x="1103312" y="1333981"/>
            <a:ext cx="2097088" cy="823912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4200" b="1" u="sng" dirty="0"/>
              <a:t>Sub-problems </a:t>
            </a:r>
            <a:r>
              <a:rPr lang="en-US" sz="4200" dirty="0"/>
              <a:t> 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C7B9A2-1AE6-8FC7-CA44-A93AD6E4C162}"/>
              </a:ext>
            </a:extLst>
          </p:cNvPr>
          <p:cNvSpPr txBox="1"/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EC37D9-21EF-F71D-7FE2-22BF966390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86" b="90000" l="8242" r="90659">
                        <a14:foregroundMark x1="8791" y1="56786" x2="8791" y2="56786"/>
                        <a14:foregroundMark x1="49451" y1="84643" x2="49451" y2="84643"/>
                        <a14:foregroundMark x1="49725" y1="23214" x2="49725" y2="23214"/>
                        <a14:foregroundMark x1="78846" y1="9286" x2="78846" y2="9286"/>
                        <a14:foregroundMark x1="90659" y1="13214" x2="90659" y2="13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486" y="4316205"/>
            <a:ext cx="3601514" cy="27703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34617EF-42D9-9B1B-A705-953A6580396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IT22135070</a:t>
            </a:r>
            <a:r>
              <a:rPr lang="en-US" sz="1800" dirty="0">
                <a:solidFill>
                  <a:schemeClr val="tx1"/>
                </a:solidFill>
              </a:rPr>
              <a:t>  |   </a:t>
            </a:r>
            <a:r>
              <a:rPr lang="en-US" dirty="0" err="1">
                <a:solidFill>
                  <a:schemeClr val="tx1"/>
                </a:solidFill>
              </a:rPr>
              <a:t>Pagodaarachchi</a:t>
            </a:r>
            <a:r>
              <a:rPr lang="en-US" dirty="0">
                <a:solidFill>
                  <a:schemeClr val="tx1"/>
                </a:solidFill>
              </a:rPr>
              <a:t> R. T.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R26-CS-006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A234DE-038C-8ADF-9D0B-A334B9B59B2B}"/>
              </a:ext>
            </a:extLst>
          </p:cNvPr>
          <p:cNvSpPr txBox="1"/>
          <p:nvPr/>
        </p:nvSpPr>
        <p:spPr>
          <a:xfrm>
            <a:off x="457200" y="2270174"/>
            <a:ext cx="466010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Existing systems fail to predict fileless attacks before escalation.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Fileless malware operates without creating detectable files.</a:t>
            </a:r>
          </a:p>
          <a:p>
            <a:r>
              <a:rPr lang="en-US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IoMT healthcare devices continuously generate abnormal behavioral events.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Security teams struggle to identify future attack progression patterns.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Delayed threat response can impact critical healthcare services.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04395D4-8266-6B9F-7A40-C13234FC4253}"/>
              </a:ext>
            </a:extLst>
          </p:cNvPr>
          <p:cNvSpPr txBox="1">
            <a:spLocks/>
          </p:cNvSpPr>
          <p:nvPr/>
        </p:nvSpPr>
        <p:spPr>
          <a:xfrm>
            <a:off x="6279028" y="1219200"/>
            <a:ext cx="5183188" cy="823912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4200" b="1" u="sng" dirty="0"/>
              <a:t>How the solution address the sub-problem </a:t>
            </a:r>
            <a:r>
              <a:rPr lang="en-US" sz="4200" dirty="0"/>
              <a:t> 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68EBAF-01A5-124D-64CB-4891654F634C}"/>
              </a:ext>
            </a:extLst>
          </p:cNvPr>
          <p:cNvSpPr txBox="1"/>
          <p:nvPr/>
        </p:nvSpPr>
        <p:spPr>
          <a:xfrm>
            <a:off x="5574507" y="2060296"/>
            <a:ext cx="61706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Developed machine learning-based forecasting models.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Predicts high-risk attack probability before full attack escalation.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Generates early warning alerts for suspicious IoMT activities.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Detects abnormal IoMT network behaviors.</a:t>
            </a:r>
          </a:p>
          <a:p>
            <a:r>
              <a:rPr lang="en-US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Supports automated security response actions for predicted threats.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Integrates cybersecurity mechanisms such as device isolation, firewall rule generation, and SOC alerting.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76379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9F092B-01ED-3284-80C8-A5C2AE8071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DCF6506-38BE-8357-805C-EF118DB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004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Predictive IoMT Threat Forecasting Engine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F56FF-5F6A-D0F4-B9D2-5693D526A9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684" b="90119" l="8889" r="93000">
                        <a14:foregroundMark x1="21667" y1="43281" x2="21667" y2="43281"/>
                        <a14:foregroundMark x1="19222" y1="46838" x2="19222" y2="46838"/>
                        <a14:foregroundMark x1="24667" y1="44071" x2="24667" y2="44071"/>
                        <a14:foregroundMark x1="21111" y1="34190" x2="21111" y2="34190"/>
                        <a14:foregroundMark x1="23778" y1="65020" x2="23778" y2="65020"/>
                        <a14:foregroundMark x1="22000" y1="58300" x2="22000" y2="58300"/>
                        <a14:foregroundMark x1="22222" y1="54941" x2="22222" y2="54941"/>
                        <a14:foregroundMark x1="30333" y1="45257" x2="30333" y2="45257"/>
                        <a14:foregroundMark x1="70778" y1="14229" x2="70778" y2="14229"/>
                        <a14:foregroundMark x1="75667" y1="15613" x2="75667" y2="15613"/>
                        <a14:foregroundMark x1="77889" y1="15613" x2="77889" y2="15613"/>
                        <a14:foregroundMark x1="87444" y1="12846" x2="87444" y2="12846"/>
                        <a14:foregroundMark x1="90778" y1="15217" x2="90778" y2="15217"/>
                        <a14:foregroundMark x1="93111" y1="14625" x2="93111" y2="14625"/>
                        <a14:foregroundMark x1="88556" y1="25692" x2="88556" y2="25692"/>
                        <a14:foregroundMark x1="51222" y1="26877" x2="51222" y2="26877"/>
                        <a14:foregroundMark x1="54667" y1="14229" x2="54667" y2="14229"/>
                        <a14:foregroundMark x1="55000" y1="18379" x2="55000" y2="18379"/>
                        <a14:foregroundMark x1="50556" y1="14822" x2="50556" y2="14822"/>
                        <a14:foregroundMark x1="59778" y1="34585" x2="59778" y2="34585"/>
                        <a14:foregroundMark x1="57444" y1="34387" x2="57444" y2="34387"/>
                        <a14:foregroundMark x1="54778" y1="31028" x2="54778" y2="31028"/>
                        <a14:foregroundMark x1="56333" y1="22727" x2="56333" y2="22727"/>
                        <a14:foregroundMark x1="66556" y1="38340" x2="66556" y2="38340"/>
                        <a14:foregroundMark x1="65778" y1="45850" x2="65778" y2="45850"/>
                        <a14:foregroundMark x1="66000" y1="31818" x2="66000" y2="31818"/>
                        <a14:foregroundMark x1="67556" y1="29447" x2="67556" y2="29447"/>
                        <a14:foregroundMark x1="77889" y1="41700" x2="77889" y2="41700"/>
                        <a14:foregroundMark x1="88222" y1="40514" x2="88222" y2="40514"/>
                        <a14:foregroundMark x1="90444" y1="35573" x2="90444" y2="35573"/>
                        <a14:foregroundMark x1="87889" y1="36561" x2="87889" y2="36561"/>
                        <a14:foregroundMark x1="87444" y1="31225" x2="87444" y2="31225"/>
                        <a14:foregroundMark x1="77556" y1="48024" x2="77556" y2="48024"/>
                        <a14:foregroundMark x1="77444" y1="52767" x2="77444" y2="52767"/>
                        <a14:foregroundMark x1="74778" y1="52767" x2="74778" y2="52767"/>
                        <a14:foregroundMark x1="80556" y1="44071" x2="80556" y2="44071"/>
                        <a14:foregroundMark x1="66556" y1="52569" x2="66556" y2="52569"/>
                        <a14:foregroundMark x1="65667" y1="58300" x2="65667" y2="58300"/>
                        <a14:foregroundMark x1="65667" y1="61462" x2="65667" y2="61462"/>
                        <a14:foregroundMark x1="20667" y1="72925" x2="20667" y2="72925"/>
                        <a14:foregroundMark x1="10222" y1="62253" x2="10222" y2="62253"/>
                        <a14:foregroundMark x1="18444" y1="85375" x2="18444" y2="85375"/>
                        <a14:foregroundMark x1="25000" y1="87154" x2="25000" y2="87154"/>
                        <a14:foregroundMark x1="24333" y1="90119" x2="24333" y2="90119"/>
                        <a14:foregroundMark x1="18000" y1="89921" x2="18000" y2="89921"/>
                        <a14:foregroundMark x1="8889" y1="56917" x2="8889" y2="56917"/>
                        <a14:foregroundMark x1="12000" y1="45059" x2="12000" y2="45059"/>
                        <a14:foregroundMark x1="33000" y1="70356" x2="33000" y2="70356"/>
                        <a14:foregroundMark x1="32222" y1="76877" x2="32222" y2="76877"/>
                        <a14:foregroundMark x1="64556" y1="16601" x2="64556" y2="16601"/>
                        <a14:foregroundMark x1="63111" y1="14032" x2="63111" y2="140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257" y="-13681"/>
            <a:ext cx="4692851" cy="26384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FD5EE5-670F-28E1-73FB-40E1064DCC5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IT22135070</a:t>
            </a:r>
            <a:r>
              <a:rPr lang="en-US" sz="1800" dirty="0">
                <a:solidFill>
                  <a:schemeClr val="tx1"/>
                </a:solidFill>
              </a:rPr>
              <a:t>  |   </a:t>
            </a:r>
            <a:r>
              <a:rPr lang="en-US" dirty="0" err="1">
                <a:solidFill>
                  <a:schemeClr val="tx1"/>
                </a:solidFill>
              </a:rPr>
              <a:t>Pagodaarachchi</a:t>
            </a:r>
            <a:r>
              <a:rPr lang="en-US" dirty="0">
                <a:solidFill>
                  <a:schemeClr val="tx1"/>
                </a:solidFill>
              </a:rPr>
              <a:t> R. T.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R26-CS-006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0404C-74D0-392C-08B9-9B385FC137FB}"/>
              </a:ext>
            </a:extLst>
          </p:cNvPr>
          <p:cNvSpPr txBox="1"/>
          <p:nvPr/>
        </p:nvSpPr>
        <p:spPr>
          <a:xfrm>
            <a:off x="6040617" y="1690688"/>
            <a:ext cx="587427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Future Steps ….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Integrate automated threat response mechanisms.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Implement dynamic firewall rule generation.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Add IoMT device isolation capability.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Integrate SIEM/SOC alerting systems.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Develop real-time attack mitigation engine.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Add adaptive risk-based access control.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Improve attack prediction accuracy using advanced AI models.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8550F0-11E7-9A1F-4BD5-090804E4D395}"/>
              </a:ext>
            </a:extLst>
          </p:cNvPr>
          <p:cNvSpPr txBox="1"/>
          <p:nvPr/>
        </p:nvSpPr>
        <p:spPr>
          <a:xfrm>
            <a:off x="277109" y="1690688"/>
            <a:ext cx="54864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/>
              <a:t>Design Excellence / Contribution</a:t>
            </a:r>
          </a:p>
          <a:p>
            <a:pPr>
              <a:buNone/>
            </a:pP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Introduced a predictive cybersecurity approach instead of only reactive detection.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Combined machine learning with behavioral threat forecasting.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Integrated event-sequence analysis for early attack prediction.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Designed specifically for IoMT healthcare environments. 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Integrated cybersecurity-focused response mechanisms with AI forecasting.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15617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12C014-E501-85BE-BFEF-F551324D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5B2AEB-7A81-5A35-F0A4-65140D75EEC0}"/>
              </a:ext>
            </a:extLst>
          </p:cNvPr>
          <p:cNvSpPr txBox="1">
            <a:spLocks/>
          </p:cNvSpPr>
          <p:nvPr/>
        </p:nvSpPr>
        <p:spPr>
          <a:xfrm>
            <a:off x="1143000" y="3429000"/>
            <a:ext cx="10363200" cy="2308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Specialization :</a:t>
            </a:r>
          </a:p>
          <a:p>
            <a:pPr marL="0" indent="0">
              <a:buNone/>
            </a:pPr>
            <a:r>
              <a:rPr lang="en-US" dirty="0"/>
              <a:t>Cyber security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397E43-952E-BED3-1269-5A150DD30E03}"/>
              </a:ext>
            </a:extLst>
          </p:cNvPr>
          <p:cNvSpPr/>
          <p:nvPr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71A131-624C-1014-7A21-E2583AD7C9D0}"/>
              </a:ext>
            </a:extLst>
          </p:cNvPr>
          <p:cNvSpPr/>
          <p:nvPr/>
        </p:nvSpPr>
        <p:spPr>
          <a:xfrm>
            <a:off x="2632434" y="6492875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IT22210142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b="1" dirty="0">
                <a:solidFill>
                  <a:schemeClr val="tx1"/>
                </a:solidFill>
              </a:rPr>
              <a:t>Shakya W.A.R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dirty="0">
                <a:solidFill>
                  <a:schemeClr val="tx1"/>
                </a:solidFill>
              </a:rPr>
              <a:t>R26-CS-006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8C09A-CBFD-5691-5EEA-8583568A79F4}"/>
              </a:ext>
            </a:extLst>
          </p:cNvPr>
          <p:cNvSpPr txBox="1"/>
          <p:nvPr/>
        </p:nvSpPr>
        <p:spPr>
          <a:xfrm>
            <a:off x="1143000" y="2321390"/>
            <a:ext cx="739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IT22210142</a:t>
            </a:r>
            <a:r>
              <a:rPr lang="en-US" sz="4000" dirty="0">
                <a:solidFill>
                  <a:schemeClr val="tx1"/>
                </a:solidFill>
              </a:rPr>
              <a:t>   |   </a:t>
            </a:r>
            <a:r>
              <a:rPr lang="en-US" sz="4000" b="1" dirty="0">
                <a:solidFill>
                  <a:schemeClr val="tx1"/>
                </a:solidFill>
              </a:rPr>
              <a:t>Shakya W.A.R   </a:t>
            </a:r>
            <a:endParaRPr lang="en-US" sz="4000" b="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833325-17CB-6BE0-1304-F7C79D886AF5}"/>
              </a:ext>
            </a:extLst>
          </p:cNvPr>
          <p:cNvSpPr txBox="1"/>
          <p:nvPr/>
        </p:nvSpPr>
        <p:spPr>
          <a:xfrm>
            <a:off x="647700" y="232559"/>
            <a:ext cx="8839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Cross-Layer Lateral movement correlation detection engine and XAI dashboard.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57119C-E993-5D26-5D82-ED4CAD0878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152400"/>
            <a:ext cx="2057400" cy="230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66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D2ACE6-5690-EAC4-2C25-80BA21E98F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64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A0E3056-62C2-2129-2B23-B3848178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kern="1200" dirty="0">
                <a:highlight>
                  <a:srgbClr val="FFFF00"/>
                </a:highlight>
                <a:latin typeface="+mj-lt"/>
                <a:ea typeface="+mj-ea"/>
                <a:cs typeface="+mj-cs"/>
              </a:rPr>
              <a:t>Cross layer lateral movement correlation detection engine and XAI dashboard.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7D164C-BFBB-1BB7-41AB-6AE8ECE35A95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/>
          </a:p>
          <a:p>
            <a:endParaRPr lang="en-US" b="1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9EBD96C-0AEF-FE0F-8500-DA76CAF40519}"/>
              </a:ext>
            </a:extLst>
          </p:cNvPr>
          <p:cNvSpPr txBox="1">
            <a:spLocks/>
          </p:cNvSpPr>
          <p:nvPr/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4200" b="1" u="sng" dirty="0"/>
              <a:t>How the solution address the sub-problem </a:t>
            </a:r>
            <a:r>
              <a:rPr lang="en-US" sz="4200" dirty="0"/>
              <a:t> 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364843-419B-272D-F2F7-A48E4565CB23}"/>
              </a:ext>
            </a:extLst>
          </p:cNvPr>
          <p:cNvSpPr txBox="1"/>
          <p:nvPr/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/>
              <a:t>Multi-layer attack detection,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temporal attack sequence correlation.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Graphed based lateral movement analysis.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Weighted multi-layer alert fusion.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/>
              <a:t>Detect hidden fileless attack behavior through,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Memory anomaly detection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Network anomaly detection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Cross layer risk escalation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/>
              <a:t>Correlate isolated anomalies by ,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Combining network , memory , graph and teammate alerts.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19A3BF-CDCF-D5FC-365F-B15077E13CC3}"/>
              </a:ext>
            </a:extLst>
          </p:cNvPr>
          <p:cNvSpPr txBox="1"/>
          <p:nvPr/>
        </p:nvSpPr>
        <p:spPr>
          <a:xfrm>
            <a:off x="185468" y="2096534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u="sng" dirty="0"/>
              <a:t>Sub-problem.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Fails to detect multistage attacks.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Fileless attacks spreads without any indications.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SOC analyst struggle to correlate isolated anomalies into one incident.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E579B-8F2D-4A5C-2EAE-5E18A9B071B3}"/>
              </a:ext>
            </a:extLst>
          </p:cNvPr>
          <p:cNvSpPr txBox="1"/>
          <p:nvPr/>
        </p:nvSpPr>
        <p:spPr>
          <a:xfrm>
            <a:off x="3505200" y="6272343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IT22210142 | SHAKYA W.A.R | R26-CS-006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0B9752-36FA-083F-352A-978A832538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64" y="4114800"/>
            <a:ext cx="5889505" cy="228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48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0C21B6-FEB9-DA3A-0553-BAC3946D6A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3A640F2-9C21-C23B-A4BD-1887593E4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Cross layer lateral movement correlation detection engine and XAI dashboard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D221B63-D887-3C61-1AFE-752FCCC74C4D}"/>
              </a:ext>
            </a:extLst>
          </p:cNvPr>
          <p:cNvSpPr txBox="1">
            <a:spLocks/>
          </p:cNvSpPr>
          <p:nvPr/>
        </p:nvSpPr>
        <p:spPr>
          <a:xfrm>
            <a:off x="381000" y="2286000"/>
            <a:ext cx="5005387" cy="36845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000" b="1" u="sng" dirty="0"/>
              <a:t>Design Excellence \Contribution.</a:t>
            </a:r>
            <a:endParaRPr lang="en-US" sz="1600" b="1" u="sng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Developed a cross layer correlation engine.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Implemented graphed based </a:t>
            </a:r>
            <a:r>
              <a:rPr lang="en-US" sz="1600" dirty="0" err="1"/>
              <a:t>Iomt</a:t>
            </a:r>
            <a:r>
              <a:rPr lang="en-US" sz="1600" dirty="0"/>
              <a:t> lateral movement 	detection using device relationship analysis.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Developed multi layer risk fusion 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Developed temporal attack sequence correlation.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0AFEAD-602A-0F3C-2336-D0E4CE2CE23D}"/>
              </a:ext>
            </a:extLst>
          </p:cNvPr>
          <p:cNvSpPr txBox="1"/>
          <p:nvPr/>
        </p:nvSpPr>
        <p:spPr>
          <a:xfrm>
            <a:off x="2883693" y="6488668"/>
            <a:ext cx="6163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IT22210142 | SHAKYA W.A.R | R26-CS-006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0BC4E9-1A1D-B7E1-2378-BAF4EF048675}"/>
              </a:ext>
            </a:extLst>
          </p:cNvPr>
          <p:cNvSpPr txBox="1"/>
          <p:nvPr/>
        </p:nvSpPr>
        <p:spPr>
          <a:xfrm>
            <a:off x="6096000" y="2057400"/>
            <a:ext cx="5486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Plan for the upcoming 6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 the system to a real network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the real time attack detection or near real time attack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with the teammate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a persistent database to store the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authentication for the dashboard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59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1E0D599-D798-C2BD-744B-3119B79F9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738" y="68263"/>
            <a:ext cx="6237287" cy="6237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3134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9348</TotalTime>
  <Words>1366</Words>
  <Application>Microsoft Office PowerPoint</Application>
  <PresentationFormat>Widescreen</PresentationFormat>
  <Paragraphs>230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Adobe Devanagari</vt:lpstr>
      <vt:lpstr>Arial</vt:lpstr>
      <vt:lpstr>Calibri</vt:lpstr>
      <vt:lpstr>Cambria</vt:lpstr>
      <vt:lpstr>Wingdings</vt:lpstr>
      <vt:lpstr>Office Theme</vt:lpstr>
      <vt:lpstr>Hybrid AI-based Detection of fileless malware in IOMT Healthcare systems</vt:lpstr>
      <vt:lpstr>Team Members </vt:lpstr>
      <vt:lpstr>Hybrid AI-based Detection of fileless malware in IOMT Healthcare systems  </vt:lpstr>
      <vt:lpstr>Hybrid AI-based Detection of fileless malware in IOMT Healthcare systems</vt:lpstr>
      <vt:lpstr>PowerPoint Presentation</vt:lpstr>
      <vt:lpstr>DICOM Medical Imaging Network Anomaly Detection </vt:lpstr>
      <vt:lpstr>DICOM Medical Imaging Network Anomaly Detection </vt:lpstr>
      <vt:lpstr>PowerPoint Presentation</vt:lpstr>
      <vt:lpstr>PowerShell based fileless malware detection.</vt:lpstr>
      <vt:lpstr>PowerShell based fileless malware detection</vt:lpstr>
      <vt:lpstr>PowerPoint Presentation</vt:lpstr>
      <vt:lpstr>Predictive IoMT Threat Forecasting Engine</vt:lpstr>
      <vt:lpstr>Predictive IoMT Threat Forecasting Engine</vt:lpstr>
      <vt:lpstr>PowerPoint Presentation</vt:lpstr>
      <vt:lpstr>Cross layer lateral movement correlation detection engine and XAI dashboard.</vt:lpstr>
      <vt:lpstr>Cross layer lateral movement correlation detection engine and XAI dashboard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SHAKYA W A R it22210142</cp:lastModifiedBy>
  <cp:revision>18</cp:revision>
  <dcterms:created xsi:type="dcterms:W3CDTF">2025-08-25T09:34:25Z</dcterms:created>
  <dcterms:modified xsi:type="dcterms:W3CDTF">2026-08-30T10:41:18Z</dcterms:modified>
</cp:coreProperties>
</file>