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11"/>
  </p:notesMasterIdLst>
  <p:handoutMasterIdLst>
    <p:handoutMasterId r:id="rId12"/>
  </p:handoutMasterIdLst>
  <p:sldIdLst>
    <p:sldId id="297" r:id="rId2"/>
    <p:sldId id="298" r:id="rId3"/>
    <p:sldId id="271" r:id="rId4"/>
    <p:sldId id="315" r:id="rId5"/>
    <p:sldId id="310" r:id="rId6"/>
    <p:sldId id="264" r:id="rId7"/>
    <p:sldId id="296" r:id="rId8"/>
    <p:sldId id="318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89" d="100"/>
          <a:sy n="89" d="100"/>
        </p:scale>
        <p:origin x="23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9FAE-02C0-0D40-C163-7DA634548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521E7-116F-BA14-BF6D-555E2AC9E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6F56-3BB0-EB80-F10B-ED4AD00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BC89-FC04-B9AE-8EE7-AEC5DC96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E2F1-0691-FBDC-3430-BB028B9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72578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8234-3799-6501-1DC0-FCE71BDA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3CD6-A2E0-5D9F-92E7-9024A0C3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335C-68A6-0E62-3DBA-7C919F8C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187E-DF64-1021-AF0A-4E33B783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6CE12-1222-F75F-1393-1B8D740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8971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D019-9FEE-3A56-A7E0-115D91F8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00826-2F0C-EE19-AF81-BEB68347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3AD1-5C8F-ACA7-6C1A-3CE18229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C1C4-18DE-6D14-2568-98716B44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8563-250C-31C9-A514-118EC6BE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DD575-E969-7CEA-EFC2-CEE3EF966E92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55846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3242-5767-F6C5-27D6-1B60FF90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997FA-89B9-05EB-14B1-1FCE388DC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22DFD-C488-4130-12A1-CDC98BE52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A8432-BF1A-48F0-ACEF-682D1F07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C474A-BCED-B4DC-6C92-D42CC872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5C2E6-6C7E-B4F2-788A-368087D2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0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7F27-4CD9-334E-9CB5-F0DE1CBC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85923-15AF-BDBD-FE20-909F2B7D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8FA48-5947-B794-EE7D-66FCD331F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C4244-F299-9105-ABA7-CDDAC73EE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C938B-7DD1-C3B2-F2E3-24419F6A8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56672-818E-6193-44DA-D82AFF26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C5C7B-A35F-D700-FDAF-1BBA7C74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8E618-F20D-7FA7-FDEA-663416F6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3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04D3-AF7C-1870-95A8-F92CE96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3CA68-5934-7BE8-B577-94FDC3CF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ED917-ED6C-7DA6-CBA8-A0C58376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5E2B4-C0B8-1300-25CA-9143A98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8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2ECE-332B-FAD0-A426-94164731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B0768-C6B0-2BB6-3C0C-823750A2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FE8B0-CB36-E6CA-8350-786807D6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二等辺三角形 9">
            <a:extLst>
              <a:ext uri="{FF2B5EF4-FFF2-40B4-BE49-F238E27FC236}">
                <a16:creationId xmlns:a16="http://schemas.microsoft.com/office/drawing/2014/main" id="{33544A65-6B0B-934F-0DDD-0FB7622A31BD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二等辺三角形 10">
            <a:extLst>
              <a:ext uri="{FF2B5EF4-FFF2-40B4-BE49-F238E27FC236}">
                <a16:creationId xmlns:a16="http://schemas.microsoft.com/office/drawing/2014/main" id="{9216226A-AD9D-CDCC-8E6E-0692897A7BC0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D9FFA4-B708-EF64-EA50-483F8EF4EDCA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72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2EBD-3084-02D3-2308-3F4EF827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44D32-3AE8-0D20-EFF8-2FAF495E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D239-60E3-D5DB-360A-07A6F3FF7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41330-AB97-65FA-A75B-A240B4B4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D8858-6FC5-E53F-3A71-B337F5BA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4CD7-F354-25B0-278A-49FFC3C8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二等辺三角形 11">
            <a:extLst>
              <a:ext uri="{FF2B5EF4-FFF2-40B4-BE49-F238E27FC236}">
                <a16:creationId xmlns:a16="http://schemas.microsoft.com/office/drawing/2014/main" id="{7A8184B5-6601-DD7D-4F97-D74B428B9061}"/>
              </a:ext>
            </a:extLst>
          </p:cNvPr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9" name="二等辺三角形 9">
            <a:extLst>
              <a:ext uri="{FF2B5EF4-FFF2-40B4-BE49-F238E27FC236}">
                <a16:creationId xmlns:a16="http://schemas.microsoft.com/office/drawing/2014/main" id="{9CB921A4-BF74-BB51-7125-3BC61E76FC6F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二等辺三角形 10">
            <a:extLst>
              <a:ext uri="{FF2B5EF4-FFF2-40B4-BE49-F238E27FC236}">
                <a16:creationId xmlns:a16="http://schemas.microsoft.com/office/drawing/2014/main" id="{5040542B-27A4-7A4F-1405-005682C5E913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8803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0B2A-4660-2C8F-F716-598151F4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9045-A248-EA6B-4D8F-61613B72E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D13C-DBA4-05F8-7EA4-E97C33D14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7D6EE-008F-62CF-F196-69911076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156C8-0470-C3C7-6845-51FCC1AB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75EA8-E92A-FB14-077B-2BA71BE1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6DF36DF1-F8BB-4E17-CA78-58C22E14A591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8830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F616-2DFA-8BF5-2D9B-8F2BDE02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2819E-7473-EFC3-7044-52F725656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CF43-E347-E948-6489-A40A893C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20CA-22CD-BA9B-86BF-C064A163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9674-4565-E9D1-53D1-E49E65EE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10">
            <a:extLst>
              <a:ext uri="{FF2B5EF4-FFF2-40B4-BE49-F238E27FC236}">
                <a16:creationId xmlns:a16="http://schemas.microsoft.com/office/drawing/2014/main" id="{8E9A31FF-1813-4C54-46C6-FBCD86E8B0E8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48606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4E66A-7698-A6FC-F1B4-98D714CEF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856A2-4125-7460-2EF6-E390961CC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435D7-41A0-2D38-85FF-2B70070A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7AD5-0C21-C201-1027-C4FA3D0A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3C7E-7E3E-18AB-5350-9B1EC628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9">
            <a:extLst>
              <a:ext uri="{FF2B5EF4-FFF2-40B4-BE49-F238E27FC236}">
                <a16:creationId xmlns:a16="http://schemas.microsoft.com/office/drawing/2014/main" id="{DD14D8EE-7331-C374-9CE1-CA99EA8D0356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5251DC14-4D59-2132-5795-32629695A5E5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9306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B220-8C4B-74FF-29B5-8281EE64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E2F65-2F48-231B-8919-FBB41E3C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6206-4EF1-CF58-C78F-0702F123B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8A06-4624-418B-3217-C7C054B27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47BB-17C0-5198-A35E-1C7028099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17FACA-B3AF-C5C3-FDC5-419126C0046B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ADEA0655-A806-CBD9-5368-F6C2885617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580B0-5C06-638F-AA92-92EE678A04C3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10/18/2026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7263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6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F16190-562A-1C45-8049-D2E65B2984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4419599" cy="239395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Hybrid AI-based Detection of fileless malware in IOMT Healthcare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3581400"/>
            <a:ext cx="4011084" cy="2544764"/>
          </a:xfrm>
        </p:spPr>
        <p:txBody>
          <a:bodyPr>
            <a:normAutofit/>
          </a:bodyPr>
          <a:lstStyle/>
          <a:p>
            <a:r>
              <a:rPr lang="en-US" sz="2000" dirty="0"/>
              <a:t>R26-CS-006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22D3A6-8366-9649-FDDE-0C4768056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2" r="17716" b="1"/>
          <a:stretch>
            <a:fillRect/>
          </a:stretch>
        </p:blipFill>
        <p:spPr>
          <a:xfrm>
            <a:off x="5376333" y="0"/>
            <a:ext cx="6815667" cy="6126164"/>
          </a:xfrm>
          <a:prstGeom prst="rect">
            <a:avLst/>
          </a:prstGeom>
          <a:noFill/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480393-924D-3261-DF90-B3AACFE349D3}"/>
              </a:ext>
            </a:extLst>
          </p:cNvPr>
          <p:cNvSpPr txBox="1">
            <a:spLocks/>
          </p:cNvSpPr>
          <p:nvPr/>
        </p:nvSpPr>
        <p:spPr>
          <a:xfrm>
            <a:off x="152400" y="5260183"/>
            <a:ext cx="11277599" cy="12318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Supervisor – Mr. Kanishka Yapa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Co-Supervisor – Mr. </a:t>
            </a:r>
            <a:r>
              <a:rPr lang="en-US" sz="2400" b="1" dirty="0" err="1"/>
              <a:t>Dinith</a:t>
            </a:r>
            <a:r>
              <a:rPr lang="en-US" sz="2400" b="1" dirty="0"/>
              <a:t> Primal</a:t>
            </a: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82C5CB-C4B0-1B99-A87F-3C7A1CC4FD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6E67BA-C0EA-3B0A-9B8B-148DF9DD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-484492"/>
            <a:ext cx="9067799" cy="1130300"/>
          </a:xfrm>
        </p:spPr>
        <p:txBody>
          <a:bodyPr>
            <a:normAutofit/>
          </a:bodyPr>
          <a:lstStyle/>
          <a:p>
            <a:r>
              <a:rPr lang="en-US" sz="4000" dirty="0"/>
              <a:t>Team Members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4C75B-376A-483D-3E4B-3840AB6C1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11277599" cy="1231899"/>
          </a:xfrm>
        </p:spPr>
        <p:txBody>
          <a:bodyPr>
            <a:normAutofit/>
          </a:bodyPr>
          <a:lstStyle/>
          <a:p>
            <a:endParaRPr lang="en-US" sz="24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A589961-AE8F-F58B-B41A-D64075C54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86" y="3977644"/>
            <a:ext cx="2370025" cy="207282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BCE9B4-1FEC-ADAB-0460-A6E1EE861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41660"/>
              </p:ext>
            </p:extLst>
          </p:nvPr>
        </p:nvGraphicFramePr>
        <p:xfrm>
          <a:off x="304799" y="645808"/>
          <a:ext cx="11303001" cy="3391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166690194"/>
                    </a:ext>
                  </a:extLst>
                </a:gridCol>
                <a:gridCol w="1778318">
                  <a:extLst>
                    <a:ext uri="{9D8B030D-6E8A-4147-A177-3AD203B41FA5}">
                      <a16:colId xmlns:a16="http://schemas.microsoft.com/office/drawing/2014/main" val="3988904840"/>
                    </a:ext>
                  </a:extLst>
                </a:gridCol>
                <a:gridCol w="6298882">
                  <a:extLst>
                    <a:ext uri="{9D8B030D-6E8A-4147-A177-3AD203B41FA5}">
                      <a16:colId xmlns:a16="http://schemas.microsoft.com/office/drawing/2014/main" val="312621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IT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/>
                        <a:t>Individual Component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88937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r>
                        <a:rPr lang="en-US" sz="2400" dirty="0"/>
                        <a:t>Chathuranga L.A.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IT22108272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DICOM medical imaging network anomaly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43486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r>
                        <a:rPr lang="pt-BR" sz="2400" dirty="0"/>
                        <a:t>Fernando M.S. V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IT22080530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PowerShell-based fileless malware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13125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r>
                        <a:rPr lang="en-US" sz="2400" dirty="0" err="1"/>
                        <a:t>Pagodaarachchi</a:t>
                      </a:r>
                      <a:r>
                        <a:rPr lang="en-US" sz="2400" dirty="0"/>
                        <a:t> R.T.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IT22135070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Next-24-hour IoMT threat forecasting.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52830"/>
                  </a:ext>
                </a:extLst>
              </a:tr>
              <a:tr h="465449">
                <a:tc>
                  <a:txBody>
                    <a:bodyPr/>
                    <a:lstStyle/>
                    <a:p>
                      <a:r>
                        <a:rPr lang="en-US" sz="2400" dirty="0"/>
                        <a:t>Shakya W.A.R.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IT22210142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Cross-layer lateral movement correlation and XAI dashboard.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78761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27AA222-71A7-776D-119D-6CF165174D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317" y="4034998"/>
            <a:ext cx="2058203" cy="20695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18028F-1F06-54C1-1432-884443F62F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044621"/>
            <a:ext cx="1828800" cy="20648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5789F0-D699-3B3A-B662-574393108B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178" y="4037337"/>
            <a:ext cx="2491811" cy="20648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37A77B-41C6-895C-8C52-65EB78C26F0B}"/>
              </a:ext>
            </a:extLst>
          </p:cNvPr>
          <p:cNvSpPr txBox="1"/>
          <p:nvPr/>
        </p:nvSpPr>
        <p:spPr>
          <a:xfrm>
            <a:off x="300486" y="6027526"/>
            <a:ext cx="2586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Chathuranga L.A. 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B77F0C-E8F4-26B9-D61E-D535063C8DBA}"/>
              </a:ext>
            </a:extLst>
          </p:cNvPr>
          <p:cNvSpPr txBox="1"/>
          <p:nvPr/>
        </p:nvSpPr>
        <p:spPr>
          <a:xfrm>
            <a:off x="3604189" y="6096000"/>
            <a:ext cx="2491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Fernando M.S. V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E4F84F-9648-E34E-9BCF-6DA2C93698CD}"/>
              </a:ext>
            </a:extLst>
          </p:cNvPr>
          <p:cNvSpPr txBox="1"/>
          <p:nvPr/>
        </p:nvSpPr>
        <p:spPr>
          <a:xfrm>
            <a:off x="6705600" y="6107668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Pagodaarachchi</a:t>
            </a:r>
            <a:r>
              <a:rPr lang="en-US" dirty="0"/>
              <a:t> R.T.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32A3BB-B090-7809-FA2B-57E350043063}"/>
              </a:ext>
            </a:extLst>
          </p:cNvPr>
          <p:cNvSpPr txBox="1"/>
          <p:nvPr/>
        </p:nvSpPr>
        <p:spPr>
          <a:xfrm>
            <a:off x="9906000" y="6107668"/>
            <a:ext cx="2095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Shakya W.A.R. </a:t>
            </a:r>
          </a:p>
        </p:txBody>
      </p:sp>
    </p:spTree>
    <p:extLst>
      <p:ext uri="{BB962C8B-B14F-4D97-AF65-F5344CB8AC3E}">
        <p14:creationId xmlns:p14="http://schemas.microsoft.com/office/powerpoint/2010/main" val="156554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8BDE96C-64B9-31B7-AD20-61A2A8FF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27506E47-161A-AF4E-7C08-3F46F06353AB}"/>
              </a:ext>
            </a:extLst>
          </p:cNvPr>
          <p:cNvSpPr txBox="1">
            <a:spLocks/>
          </p:cNvSpPr>
          <p:nvPr/>
        </p:nvSpPr>
        <p:spPr>
          <a:xfrm>
            <a:off x="381000" y="137160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D70A7-64F1-E1A9-B11C-B368F6AC32C4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Problem Statement, Stakeholders &amp; 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9D01A6-DED5-6E4F-996D-DF11EA805B09}"/>
              </a:ext>
            </a:extLst>
          </p:cNvPr>
          <p:cNvSpPr>
            <a:spLocks noGrp="1"/>
          </p:cNvSpPr>
          <p:nvPr/>
        </p:nvSpPr>
        <p:spPr>
          <a:xfrm>
            <a:off x="381000" y="942975"/>
            <a:ext cx="1133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506584"/>
                </a:solidFill>
                <a:latin typeface="Arial"/>
                <a:ea typeface="Arial"/>
                <a:cs typeface="Arial"/>
              </a:rPr>
              <a:t>Hybrid AI-based Detection of Fileless Malware in IoMT Healthcare Systems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CAB2E8-3AE3-362C-918D-101AC05100B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95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78EA7-B589-5F37-4798-97A84477222A}"/>
              </a:ext>
            </a:extLst>
          </p:cNvPr>
          <p:cNvSpPr>
            <a:spLocks noGrp="1"/>
          </p:cNvSpPr>
          <p:nvPr/>
        </p:nvSpPr>
        <p:spPr>
          <a:xfrm>
            <a:off x="3867150" y="6608445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06584"/>
                </a:solidFill>
                <a:latin typeface="Arial"/>
                <a:ea typeface="Arial"/>
                <a:cs typeface="Arial"/>
              </a:rPr>
              <a:t>MediRecon</a:t>
            </a:r>
            <a:r>
              <a:rPr sz="1200" b="0" dirty="0">
                <a:solidFill>
                  <a:srgbClr val="506584"/>
                </a:solidFill>
                <a:latin typeface="Arial"/>
                <a:ea typeface="Arial"/>
                <a:cs typeface="Arial"/>
              </a:rPr>
              <a:t>   /   R26-CS-006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5308A6-D669-8DD2-9BFF-1EF5F0AFF6B8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3448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A2796-CA9F-7188-2858-D38DE20B463E}"/>
              </a:ext>
            </a:extLst>
          </p:cNvPr>
          <p:cNvSpPr>
            <a:spLocks noGrp="1"/>
          </p:cNvSpPr>
          <p:nvPr/>
        </p:nvSpPr>
        <p:spPr>
          <a:xfrm>
            <a:off x="419100" y="2495550"/>
            <a:ext cx="619125" cy="38100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FDC9F6-9E40-E7A8-E576-83A8E6D3D410}"/>
              </a:ext>
            </a:extLst>
          </p:cNvPr>
          <p:cNvSpPr>
            <a:spLocks noGrp="1"/>
          </p:cNvSpPr>
          <p:nvPr/>
        </p:nvSpPr>
        <p:spPr>
          <a:xfrm>
            <a:off x="4286250" y="1952625"/>
            <a:ext cx="3448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E06446-88CB-B727-1700-3AD3A9E5C28B}"/>
              </a:ext>
            </a:extLst>
          </p:cNvPr>
          <p:cNvSpPr>
            <a:spLocks noGrp="1"/>
          </p:cNvSpPr>
          <p:nvPr/>
        </p:nvSpPr>
        <p:spPr>
          <a:xfrm>
            <a:off x="4286250" y="2495550"/>
            <a:ext cx="619125" cy="38100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02D535-5620-C066-EFA0-78A7479754D8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Main objective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66BEA5-FC66-03C5-0F37-67C73FE97858}"/>
              </a:ext>
            </a:extLst>
          </p:cNvPr>
          <p:cNvSpPr>
            <a:spLocks noGrp="1"/>
          </p:cNvSpPr>
          <p:nvPr/>
        </p:nvSpPr>
        <p:spPr>
          <a:xfrm>
            <a:off x="8153400" y="2495550"/>
            <a:ext cx="619125" cy="38100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E6DA5-482D-FB9C-2FE8-866DA9A2274F}"/>
              </a:ext>
            </a:extLst>
          </p:cNvPr>
          <p:cNvSpPr>
            <a:spLocks noGrp="1"/>
          </p:cNvSpPr>
          <p:nvPr/>
        </p:nvSpPr>
        <p:spPr>
          <a:xfrm>
            <a:off x="4048125" y="1952625"/>
            <a:ext cx="9525" cy="38576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270471-0CD9-C731-385A-3AEC263ABF79}"/>
              </a:ext>
            </a:extLst>
          </p:cNvPr>
          <p:cNvSpPr>
            <a:spLocks noGrp="1"/>
          </p:cNvSpPr>
          <p:nvPr/>
        </p:nvSpPr>
        <p:spPr>
          <a:xfrm>
            <a:off x="7915275" y="1952625"/>
            <a:ext cx="9525" cy="38576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65A0510-8944-BACC-7603-19E0B34ED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100" y="2771775"/>
            <a:ext cx="800100" cy="800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F64A16A-1D50-6E2C-C836-D2C701B6D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0" y="2778333"/>
            <a:ext cx="800100" cy="78698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5396933-7E82-0D9E-50BB-EF894E6E2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60544" y="2828925"/>
            <a:ext cx="671513" cy="6858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8E258AFA-6B54-E1CB-3853-CC6BD32EFF17}"/>
              </a:ext>
            </a:extLst>
          </p:cNvPr>
          <p:cNvSpPr>
            <a:spLocks noGrp="1"/>
          </p:cNvSpPr>
          <p:nvPr/>
        </p:nvSpPr>
        <p:spPr>
          <a:xfrm>
            <a:off x="419100" y="3810000"/>
            <a:ext cx="34480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Fileless attacks misuse tools such as PowerShell. Evidence can span healthcare endpoints and medical networks.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EFD98A-84EE-51B4-A948-7C35EF7F7273}"/>
              </a:ext>
            </a:extLst>
          </p:cNvPr>
          <p:cNvSpPr>
            <a:spLocks noGrp="1"/>
          </p:cNvSpPr>
          <p:nvPr/>
        </p:nvSpPr>
        <p:spPr>
          <a:xfrm>
            <a:off x="419100" y="5314950"/>
            <a:ext cx="34480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Separate analysis can obscure related activity and potential lateral movement.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E4136F-6611-5B4B-3F1D-D536BB57117F}"/>
              </a:ext>
            </a:extLst>
          </p:cNvPr>
          <p:cNvSpPr>
            <a:spLocks noGrp="1"/>
          </p:cNvSpPr>
          <p:nvPr/>
        </p:nvSpPr>
        <p:spPr>
          <a:xfrm>
            <a:off x="4286250" y="3762375"/>
            <a:ext cx="3448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92"/>
                </a:solidFill>
                <a:latin typeface="Arial"/>
                <a:ea typeface="Arial"/>
                <a:cs typeface="Arial"/>
              </a:rPr>
              <a:t>Primary users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AE047E-6410-0800-257C-774B87E54D66}"/>
              </a:ext>
            </a:extLst>
          </p:cNvPr>
          <p:cNvSpPr>
            <a:spLocks noGrp="1"/>
          </p:cNvSpPr>
          <p:nvPr/>
        </p:nvSpPr>
        <p:spPr>
          <a:xfrm>
            <a:off x="4286250" y="4105275"/>
            <a:ext cx="3448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SOC analysts and IT/security administrators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D6DD4B-9EC3-B527-867A-E5E30238E5CB}"/>
              </a:ext>
            </a:extLst>
          </p:cNvPr>
          <p:cNvSpPr>
            <a:spLocks noGrp="1"/>
          </p:cNvSpPr>
          <p:nvPr/>
        </p:nvSpPr>
        <p:spPr>
          <a:xfrm>
            <a:off x="4286250" y="4791075"/>
            <a:ext cx="3448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92"/>
                </a:solidFill>
                <a:latin typeface="Arial"/>
                <a:ea typeface="Arial"/>
                <a:cs typeface="Arial"/>
              </a:rPr>
              <a:t>Clinical stakeholders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3A1D1E-EDF5-09A2-7155-25605FD21FA1}"/>
              </a:ext>
            </a:extLst>
          </p:cNvPr>
          <p:cNvSpPr>
            <a:spLocks noGrp="1"/>
          </p:cNvSpPr>
          <p:nvPr/>
        </p:nvSpPr>
        <p:spPr>
          <a:xfrm>
            <a:off x="4286250" y="5133975"/>
            <a:ext cx="344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Doctors and radiology staff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01D91D-BBB6-AFD2-5B7D-5BC90547869F}"/>
              </a:ext>
            </a:extLst>
          </p:cNvPr>
          <p:cNvSpPr>
            <a:spLocks noGrp="1"/>
          </p:cNvSpPr>
          <p:nvPr/>
        </p:nvSpPr>
        <p:spPr>
          <a:xfrm>
            <a:off x="4286250" y="5543550"/>
            <a:ext cx="3448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C92"/>
                </a:solidFill>
                <a:latin typeface="Arial"/>
                <a:ea typeface="Arial"/>
                <a:cs typeface="Arial"/>
              </a:rPr>
              <a:t>Beneficiaries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0CADC2A-C790-20EA-7886-A147829E2218}"/>
              </a:ext>
            </a:extLst>
          </p:cNvPr>
          <p:cNvSpPr>
            <a:spLocks noGrp="1"/>
          </p:cNvSpPr>
          <p:nvPr/>
        </p:nvSpPr>
        <p:spPr>
          <a:xfrm>
            <a:off x="4286250" y="5876925"/>
            <a:ext cx="3448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Healthcare organisations and patients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A354CF-224A-9320-1CAD-23147C99C177}"/>
              </a:ext>
            </a:extLst>
          </p:cNvPr>
          <p:cNvSpPr>
            <a:spLocks noGrp="1"/>
          </p:cNvSpPr>
          <p:nvPr/>
        </p:nvSpPr>
        <p:spPr>
          <a:xfrm>
            <a:off x="8153400" y="3762375"/>
            <a:ext cx="36004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95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Develop and evaluate a hybrid AI framework integrating: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F994E97-BF43-1E90-B04A-68F7146339EE}"/>
              </a:ext>
            </a:extLst>
          </p:cNvPr>
          <p:cNvSpPr>
            <a:spLocks noGrp="1"/>
          </p:cNvSpPr>
          <p:nvPr/>
        </p:nvSpPr>
        <p:spPr>
          <a:xfrm>
            <a:off x="8153400" y="4762500"/>
            <a:ext cx="36004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DICOM network monitoring</a:t>
            </a:r>
          </a:p>
          <a:p>
            <a: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PowerShell detection</a:t>
            </a:r>
          </a:p>
          <a:p>
            <a: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Next-24-hour risk forecasting</a:t>
            </a:r>
          </a:p>
          <a:p>
            <a:pPr>
              <a:defRPr sz="187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Explainable incident correlation</a:t>
            </a:r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D6AA-BDF0-AA6A-ADC9-71CB50B8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F88E346-4972-379F-6717-5F3B9100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C69F1E9-EBA2-A23E-00C2-BCFFDB7CDE98}"/>
              </a:ext>
            </a:extLst>
          </p:cNvPr>
          <p:cNvSpPr txBox="1">
            <a:spLocks/>
          </p:cNvSpPr>
          <p:nvPr/>
        </p:nvSpPr>
        <p:spPr>
          <a:xfrm>
            <a:off x="963084" y="2133600"/>
            <a:ext cx="10363200" cy="365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42A27-7280-63B8-0DF4-5FA2EC34FB57}"/>
              </a:ext>
            </a:extLst>
          </p:cNvPr>
          <p:cNvSpPr txBox="1"/>
          <p:nvPr/>
        </p:nvSpPr>
        <p:spPr>
          <a:xfrm>
            <a:off x="342900" y="1371600"/>
            <a:ext cx="115062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Solution Summary: </a:t>
            </a:r>
            <a:r>
              <a:rPr lang="en-US" sz="2400" dirty="0"/>
              <a:t>A hybrid AI framework combining network and endpoint monitoring, threat prediction  and explainable correlation to support fileless malware detection in IoMT healthcare systems.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Key Features: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FR1: </a:t>
            </a:r>
            <a:r>
              <a:rPr lang="en-US" dirty="0"/>
              <a:t>DICOM medical imaging network anomaly detection.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FR2: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/>
              <a:t>PowerShell-based fileless malware detection.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FR3: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/>
              <a:t>Next-24-hour IoMT threat prediction.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         FR4: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dirty="0"/>
              <a:t>Cross-layer lateral movement correlation and XAI dashboard.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Non-Functional Focus: </a:t>
            </a:r>
            <a:r>
              <a:rPr lang="en-US" sz="2400" dirty="0"/>
              <a:t>Data privacy, reliable event processing, timely analysis, efficient resource use, and clear, usable dashboards.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FB7196-1DB8-6165-0EA0-0DF5FC5493A8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Solution Overview</a:t>
            </a:r>
          </a:p>
        </p:txBody>
      </p:sp>
    </p:spTree>
    <p:extLst>
      <p:ext uri="{BB962C8B-B14F-4D97-AF65-F5344CB8AC3E}">
        <p14:creationId xmlns:p14="http://schemas.microsoft.com/office/powerpoint/2010/main" val="387948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7D05-ED30-5280-4C7F-B851BBF4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6C385E-DF24-D09A-3D8C-2CDE02E105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201A0C8-9CA8-2A80-E70B-898899EC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7EE13E-41DD-483F-AE3F-96BF3061585B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4562B-D427-A696-BDF3-8442DFF603DE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1391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Solution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1B16B-F259-A813-E74D-7447D3C5A372}"/>
              </a:ext>
            </a:extLst>
          </p:cNvPr>
          <p:cNvSpPr>
            <a:spLocks noGrp="1"/>
          </p:cNvSpPr>
          <p:nvPr/>
        </p:nvSpPr>
        <p:spPr>
          <a:xfrm>
            <a:off x="419100" y="1133475"/>
            <a:ext cx="1133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584"/>
                </a:solidFill>
                <a:latin typeface="Arial"/>
                <a:ea typeface="Arial"/>
                <a:cs typeface="Arial"/>
              </a:rPr>
              <a:t>Four complementary components support one IoMT investigation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3A429E-4419-06B4-36DC-4F71C8A20A2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95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E7EEE-2B59-E475-0FC8-603EB5E92E99}"/>
              </a:ext>
            </a:extLst>
          </p:cNvPr>
          <p:cNvSpPr>
            <a:spLocks noGrp="1"/>
          </p:cNvSpPr>
          <p:nvPr/>
        </p:nvSpPr>
        <p:spPr>
          <a:xfrm>
            <a:off x="4572000" y="6620827"/>
            <a:ext cx="857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506584"/>
                </a:solidFill>
                <a:latin typeface="Arial"/>
                <a:ea typeface="Arial"/>
                <a:cs typeface="Arial"/>
              </a:rPr>
              <a:t>MediRecon</a:t>
            </a:r>
            <a:r>
              <a:rPr sz="1200" b="0" dirty="0">
                <a:solidFill>
                  <a:srgbClr val="506584"/>
                </a:solidFill>
                <a:latin typeface="Arial"/>
                <a:ea typeface="Arial"/>
                <a:cs typeface="Arial"/>
              </a:rPr>
              <a:t>   /   R26-CS-006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2BC870-1D4C-1850-6E29-D7FC2C308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100" y="2000250"/>
            <a:ext cx="647700" cy="6477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993CD3C-7DA9-038A-C03F-976B695E2253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DICOM security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E4BFF1-A6AE-5783-4482-F81F18769A86}"/>
              </a:ext>
            </a:extLst>
          </p:cNvPr>
          <p:cNvSpPr>
            <a:spLocks noGrp="1"/>
          </p:cNvSpPr>
          <p:nvPr/>
        </p:nvSpPr>
        <p:spPr>
          <a:xfrm>
            <a:off x="4762500" y="2047875"/>
            <a:ext cx="700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Medical-network anomaly detection and a separate image-integrity check.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B05636-A68F-8A5B-1250-47E77BC2F40E}"/>
              </a:ext>
            </a:extLst>
          </p:cNvPr>
          <p:cNvSpPr>
            <a:spLocks noGrp="1"/>
          </p:cNvSpPr>
          <p:nvPr/>
        </p:nvSpPr>
        <p:spPr>
          <a:xfrm>
            <a:off x="1238250" y="2809875"/>
            <a:ext cx="10525125" cy="95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29B208-E93F-EF4B-6F28-D3B292B93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9100" y="2895600"/>
            <a:ext cx="647700" cy="6477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64C77C8-1A9D-8F3A-72E9-641434B253CF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PowerShell detection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9B5848-7366-346A-EB8B-1CECAF975ED5}"/>
              </a:ext>
            </a:extLst>
          </p:cNvPr>
          <p:cNvSpPr>
            <a:spLocks noGrp="1"/>
          </p:cNvSpPr>
          <p:nvPr/>
        </p:nvSpPr>
        <p:spPr>
          <a:xfrm>
            <a:off x="4762500" y="2943225"/>
            <a:ext cx="700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06264B"/>
                </a:solidFill>
                <a:latin typeface="Arial"/>
                <a:ea typeface="Arial"/>
                <a:cs typeface="Arial"/>
              </a:rPr>
              <a:t>XGBoost</a:t>
            </a:r>
            <a:r>
              <a:rPr sz="2025" b="0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 classification with </a:t>
            </a:r>
            <a:r>
              <a:rPr sz="2025" b="0" dirty="0" err="1">
                <a:solidFill>
                  <a:srgbClr val="06264B"/>
                </a:solidFill>
                <a:latin typeface="Arial"/>
                <a:ea typeface="Arial"/>
                <a:cs typeface="Arial"/>
              </a:rPr>
              <a:t>behavioural</a:t>
            </a:r>
            <a:r>
              <a:rPr sz="2025" b="0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 indicators of </a:t>
            </a:r>
            <a:r>
              <a:rPr lang="en-US" sz="2025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malicious</a:t>
            </a:r>
            <a:r>
              <a:rPr sz="2025" b="0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 execution.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F6CD01-19C3-DE41-72E8-2CC72CB17C11}"/>
              </a:ext>
            </a:extLst>
          </p:cNvPr>
          <p:cNvSpPr>
            <a:spLocks noGrp="1"/>
          </p:cNvSpPr>
          <p:nvPr/>
        </p:nvSpPr>
        <p:spPr>
          <a:xfrm>
            <a:off x="1238250" y="3705225"/>
            <a:ext cx="10525125" cy="95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B9EE33E-657E-C023-943C-3D8996574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19100" y="3790950"/>
            <a:ext cx="647700" cy="6477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5C3EE32-C033-1FE0-07DC-C6E31957DAD8}"/>
              </a:ext>
            </a:extLst>
          </p:cNvPr>
          <p:cNvSpPr>
            <a:spLocks noGrp="1"/>
          </p:cNvSpPr>
          <p:nvPr/>
        </p:nvSpPr>
        <p:spPr>
          <a:xfrm>
            <a:off x="1238250" y="3838575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24-hour risk </a:t>
            </a:r>
            <a:r>
              <a:rPr lang="en-US" sz="2100" b="1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prediction</a:t>
            </a:r>
            <a:endParaRPr sz="2100" b="1" dirty="0">
              <a:solidFill>
                <a:srgbClr val="0626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245F2B-1AE5-66EE-C0DD-C0B3398A3C5C}"/>
              </a:ext>
            </a:extLst>
          </p:cNvPr>
          <p:cNvSpPr>
            <a:spLocks noGrp="1"/>
          </p:cNvSpPr>
          <p:nvPr/>
        </p:nvSpPr>
        <p:spPr>
          <a:xfrm>
            <a:off x="4762500" y="3838575"/>
            <a:ext cx="700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06264B"/>
                </a:solidFill>
                <a:latin typeface="Arial"/>
                <a:ea typeface="Arial"/>
                <a:cs typeface="Arial"/>
              </a:rPr>
              <a:t>LSTM estimates future risk from sequential telemetry.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CD2019B-1B0D-9148-7FD6-F60A759D8562}"/>
              </a:ext>
            </a:extLst>
          </p:cNvPr>
          <p:cNvSpPr>
            <a:spLocks noGrp="1"/>
          </p:cNvSpPr>
          <p:nvPr/>
        </p:nvSpPr>
        <p:spPr>
          <a:xfrm>
            <a:off x="1238250" y="4600575"/>
            <a:ext cx="10525125" cy="9525"/>
          </a:xfrm>
          <a:prstGeom prst="rect">
            <a:avLst/>
          </a:prstGeom>
          <a:solidFill>
            <a:srgbClr val="AEE4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D26ABBF-C840-0103-ECFD-6B9DF0E1F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27853" y="4686300"/>
            <a:ext cx="630195" cy="6477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5098C8A-9B93-34F7-DDC1-270FEDA86782}"/>
              </a:ext>
            </a:extLst>
          </p:cNvPr>
          <p:cNvSpPr>
            <a:spLocks noGrp="1"/>
          </p:cNvSpPr>
          <p:nvPr/>
        </p:nvSpPr>
        <p:spPr>
          <a:xfrm>
            <a:off x="1238250" y="4733925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264B"/>
                </a:solidFill>
                <a:latin typeface="Arial"/>
                <a:ea typeface="Arial"/>
                <a:cs typeface="Arial"/>
              </a:rPr>
              <a:t>Correlation and explanations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32972D-5B2D-D6FD-D590-AFC5B6FFDD36}"/>
              </a:ext>
            </a:extLst>
          </p:cNvPr>
          <p:cNvSpPr>
            <a:spLocks noGrp="1"/>
          </p:cNvSpPr>
          <p:nvPr/>
        </p:nvSpPr>
        <p:spPr>
          <a:xfrm>
            <a:off x="4762500" y="4733925"/>
            <a:ext cx="7000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062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6264B"/>
                </a:solidFill>
                <a:latin typeface="Arial"/>
                <a:ea typeface="Arial"/>
                <a:cs typeface="Arial"/>
              </a:rPr>
              <a:t>Connect available events through time and host relationships, with supporting evidence.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71DAA0-86D8-DA4C-91F8-E9174362A97C}"/>
              </a:ext>
            </a:extLst>
          </p:cNvPr>
          <p:cNvSpPr>
            <a:spLocks noGrp="1"/>
          </p:cNvSpPr>
          <p:nvPr/>
        </p:nvSpPr>
        <p:spPr>
          <a:xfrm>
            <a:off x="419100" y="5734050"/>
            <a:ext cx="2333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1">
                <a:solidFill>
                  <a:srgbClr val="087C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C92"/>
                </a:solidFill>
                <a:latin typeface="Arial"/>
                <a:ea typeface="Arial"/>
                <a:cs typeface="Arial"/>
              </a:rPr>
              <a:t>Design priorities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8C4711-0929-B62B-DE3B-0186C6C9EA70}"/>
              </a:ext>
            </a:extLst>
          </p:cNvPr>
          <p:cNvSpPr>
            <a:spLocks noGrp="1"/>
          </p:cNvSpPr>
          <p:nvPr/>
        </p:nvSpPr>
        <p:spPr>
          <a:xfrm>
            <a:off x="2857500" y="5715000"/>
            <a:ext cx="8905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 b="0">
                <a:solidFill>
                  <a:srgbClr val="50658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584"/>
                </a:solidFill>
                <a:latin typeface="Arial"/>
                <a:ea typeface="Arial"/>
                <a:cs typeface="Arial"/>
              </a:rPr>
              <a:t>Privacy, reliable processing, timely analysis, efficient resource use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228626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A40779-EEDE-EE5F-239B-489036B95A8A}"/>
              </a:ext>
            </a:extLst>
          </p:cNvPr>
          <p:cNvSpPr/>
          <p:nvPr/>
        </p:nvSpPr>
        <p:spPr>
          <a:xfrm>
            <a:off x="2667000" y="5867400"/>
            <a:ext cx="5486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33F740-C753-632E-FA8F-2FFF32A6FE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426"/>
            <a:ext cx="12192000" cy="69312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A9AE9F-2290-09FC-4C87-1F6ACD2F16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0" y="1"/>
            <a:ext cx="12192000" cy="687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0BB0-B4AD-62E6-42B7-56BB178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305248-2143-AB6B-EDA5-E496F654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7319"/>
            <a:ext cx="10363200" cy="1554162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F5B488-1FAE-3202-E50D-46F52103DCA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362200"/>
            <a:ext cx="10058400" cy="35814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415F2-E2FC-1F71-3D94-3DDC638970BF}"/>
              </a:ext>
            </a:extLst>
          </p:cNvPr>
          <p:cNvSpPr txBox="1"/>
          <p:nvPr/>
        </p:nvSpPr>
        <p:spPr>
          <a:xfrm>
            <a:off x="7553139" y="183794"/>
            <a:ext cx="4508499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Commercialization</a:t>
            </a:r>
            <a:endParaRPr lang="en-US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080E9C-3202-5FDA-70EE-43AE0EE0C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7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0074C-0465-D439-C897-842A7BB5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F482D-9D7B-4D96-96AF-B0FE27CFFEE6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81281-C8A6-08C0-0B49-D4F0E82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9BB02A-8F5B-4314-5CF8-5281D9009B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C12E55C-BE49-E0A7-8C8F-0B1B8938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4419599" cy="239395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Hybrid AI-based Detection of fileless malware in IOMT Healthcare systems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A88E070-739C-9DAD-FE73-0B8E257A6D7F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5334000" cy="31543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R26-CS-006</a:t>
            </a:r>
          </a:p>
          <a:p>
            <a:r>
              <a:rPr lang="en-US" sz="3200" b="1" dirty="0"/>
              <a:t>Demonstration Of The Research Project</a:t>
            </a:r>
            <a:endParaRPr lang="en-US" sz="3200" b="1" dirty="0">
              <a:latin typeface="Telegraf Ultra-Bold"/>
              <a:ea typeface="Telegraf Ultra-Bold"/>
              <a:cs typeface="Telegraf Ultra-Bold"/>
              <a:sym typeface="Telegraf Ultra-Bold"/>
            </a:endParaRPr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26AEA1-03F8-A36B-E9AB-FA15D2698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2" r="17716" b="1"/>
          <a:stretch>
            <a:fillRect/>
          </a:stretch>
        </p:blipFill>
        <p:spPr>
          <a:xfrm>
            <a:off x="5376333" y="0"/>
            <a:ext cx="6815667" cy="6126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728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9FF96-EFC4-BC24-AAA4-CB4330BA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7F13-FD70-423F-9884-F6C43E0DBC6C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37EC-133D-5551-1754-3D63B0BC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66810-C4FA-42C7-3654-3018C375D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738" y="68263"/>
            <a:ext cx="6237287" cy="623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930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10316</TotalTime>
  <Words>393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Telegraf Ultra-Bold</vt:lpstr>
      <vt:lpstr>Times New Roman</vt:lpstr>
      <vt:lpstr>Wingdings</vt:lpstr>
      <vt:lpstr>Office Theme</vt:lpstr>
      <vt:lpstr>Hybrid AI-based Detection of fileless malware in IOMT Healthcare systems</vt:lpstr>
      <vt:lpstr>Team Members </vt:lpstr>
      <vt:lpstr>PowerPoint Presentation</vt:lpstr>
      <vt:lpstr>PowerPoint Presentation</vt:lpstr>
      <vt:lpstr>PowerPoint Presentation</vt:lpstr>
      <vt:lpstr>PowerPoint Presentation</vt:lpstr>
      <vt:lpstr> </vt:lpstr>
      <vt:lpstr>Hybrid AI-based Detection of fileless malware in IOMT Healthcare systems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AI-based Detection of fileless malware in IOMT Healthcare systems</dc:title>
  <dc:creator>Koliya Pulasinghe</dc:creator>
  <cp:lastModifiedBy>SHAKYA W A R it22210142</cp:lastModifiedBy>
  <cp:revision>37</cp:revision>
  <dcterms:created xsi:type="dcterms:W3CDTF">2025-08-25T09:34:25Z</dcterms:created>
  <dcterms:modified xsi:type="dcterms:W3CDTF">2026-10-20T19:11:44Z</dcterms:modified>
</cp:coreProperties>
</file>