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4" r:id="rId1"/>
  </p:sldMasterIdLst>
  <p:notesMasterIdLst>
    <p:notesMasterId r:id="rId19"/>
  </p:notesMasterIdLst>
  <p:handoutMasterIdLst>
    <p:handoutMasterId r:id="rId20"/>
  </p:handoutMasterIdLst>
  <p:sldIdLst>
    <p:sldId id="297" r:id="rId2"/>
    <p:sldId id="298" r:id="rId3"/>
    <p:sldId id="271" r:id="rId4"/>
    <p:sldId id="299" r:id="rId5"/>
    <p:sldId id="300" r:id="rId6"/>
    <p:sldId id="301" r:id="rId7"/>
    <p:sldId id="264" r:id="rId8"/>
    <p:sldId id="279" r:id="rId9"/>
    <p:sldId id="302" r:id="rId10"/>
    <p:sldId id="303" r:id="rId11"/>
    <p:sldId id="304" r:id="rId12"/>
    <p:sldId id="305" r:id="rId13"/>
    <p:sldId id="306" r:id="rId14"/>
    <p:sldId id="307" r:id="rId15"/>
    <p:sldId id="309" r:id="rId16"/>
    <p:sldId id="296" r:id="rId17"/>
    <p:sldId id="30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62D36C-B754-4F44-AD44-9A58145D50A2}" v="1" dt="2026-02-25T05:53:02.9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>
      <p:cViewPr varScale="1">
        <p:scale>
          <a:sx n="89" d="100"/>
          <a:sy n="89" d="100"/>
        </p:scale>
        <p:origin x="23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liya Pulasinghe" userId="3b084d72-9861-4c60-9200-c0531e41d6c4" providerId="ADAL" clId="{27F661AB-F3F1-455C-8A30-F0013F0E3D82}"/>
    <pc:docChg chg="addSld modSld">
      <pc:chgData name="Koliya Pulasinghe" userId="3b084d72-9861-4c60-9200-c0531e41d6c4" providerId="ADAL" clId="{27F661AB-F3F1-455C-8A30-F0013F0E3D82}" dt="2026-02-25T05:53:02.947" v="1"/>
      <pc:docMkLst>
        <pc:docMk/>
      </pc:docMkLst>
      <pc:sldChg chg="addSp">
        <pc:chgData name="Koliya Pulasinghe" userId="3b084d72-9861-4c60-9200-c0531e41d6c4" providerId="ADAL" clId="{27F661AB-F3F1-455C-8A30-F0013F0E3D82}" dt="2026-02-25T05:53:02.947" v="1"/>
        <pc:sldMkLst>
          <pc:docMk/>
          <pc:sldMk cId="2181409990" sldId="264"/>
        </pc:sldMkLst>
        <pc:inkChg chg="add">
          <ac:chgData name="Koliya Pulasinghe" userId="3b084d72-9861-4c60-9200-c0531e41d6c4" providerId="ADAL" clId="{27F661AB-F3F1-455C-8A30-F0013F0E3D82}" dt="2026-02-25T05:53:02.947" v="1"/>
          <ac:inkMkLst>
            <pc:docMk/>
            <pc:sldMk cId="2181409990" sldId="264"/>
            <ac:inkMk id="7" creationId="{E03AF077-5C5A-B13E-7B20-2DA888E7E8D7}"/>
          </ac:inkMkLst>
        </pc:inkChg>
      </pc:sldChg>
      <pc:sldChg chg="addSp">
        <pc:chgData name="Koliya Pulasinghe" userId="3b084d72-9861-4c60-9200-c0531e41d6c4" providerId="ADAL" clId="{27F661AB-F3F1-455C-8A30-F0013F0E3D82}" dt="2026-02-25T05:53:02.947" v="1"/>
        <pc:sldMkLst>
          <pc:docMk/>
          <pc:sldMk cId="725102601" sldId="271"/>
        </pc:sldMkLst>
        <pc:inkChg chg="add">
          <ac:chgData name="Koliya Pulasinghe" userId="3b084d72-9861-4c60-9200-c0531e41d6c4" providerId="ADAL" clId="{27F661AB-F3F1-455C-8A30-F0013F0E3D82}" dt="2026-02-25T05:53:02.947" v="1"/>
          <ac:inkMkLst>
            <pc:docMk/>
            <pc:sldMk cId="725102601" sldId="271"/>
            <ac:inkMk id="2" creationId="{583B4684-D1B1-AE03-5048-314608C92149}"/>
          </ac:inkMkLst>
        </pc:inkChg>
      </pc:sldChg>
      <pc:sldChg chg="addSp">
        <pc:chgData name="Koliya Pulasinghe" userId="3b084d72-9861-4c60-9200-c0531e41d6c4" providerId="ADAL" clId="{27F661AB-F3F1-455C-8A30-F0013F0E3D82}" dt="2026-02-25T05:53:02.947" v="1"/>
        <pc:sldMkLst>
          <pc:docMk/>
          <pc:sldMk cId="4163232696" sldId="279"/>
        </pc:sldMkLst>
        <pc:inkChg chg="add">
          <ac:chgData name="Koliya Pulasinghe" userId="3b084d72-9861-4c60-9200-c0531e41d6c4" providerId="ADAL" clId="{27F661AB-F3F1-455C-8A30-F0013F0E3D82}" dt="2026-02-25T05:53:02.947" v="1"/>
          <ac:inkMkLst>
            <pc:docMk/>
            <pc:sldMk cId="4163232696" sldId="279"/>
            <ac:inkMk id="2" creationId="{435E77A0-C4D4-9A13-58DC-F7DB04104D2B}"/>
          </ac:inkMkLst>
        </pc:inkChg>
      </pc:sldChg>
      <pc:sldChg chg="addSp">
        <pc:chgData name="Koliya Pulasinghe" userId="3b084d72-9861-4c60-9200-c0531e41d6c4" providerId="ADAL" clId="{27F661AB-F3F1-455C-8A30-F0013F0E3D82}" dt="2026-02-25T05:53:02.947" v="1"/>
        <pc:sldMkLst>
          <pc:docMk/>
          <pc:sldMk cId="1860537422" sldId="292"/>
        </pc:sldMkLst>
        <pc:inkChg chg="add">
          <ac:chgData name="Koliya Pulasinghe" userId="3b084d72-9861-4c60-9200-c0531e41d6c4" providerId="ADAL" clId="{27F661AB-F3F1-455C-8A30-F0013F0E3D82}" dt="2026-02-25T05:53:02.947" v="1"/>
          <ac:inkMkLst>
            <pc:docMk/>
            <pc:sldMk cId="1860537422" sldId="292"/>
            <ac:inkMk id="2" creationId="{2703793F-346D-24C9-9974-44656C008210}"/>
          </ac:inkMkLst>
        </pc:inkChg>
      </pc:sldChg>
      <pc:sldChg chg="addSp">
        <pc:chgData name="Koliya Pulasinghe" userId="3b084d72-9861-4c60-9200-c0531e41d6c4" providerId="ADAL" clId="{27F661AB-F3F1-455C-8A30-F0013F0E3D82}" dt="2026-02-25T05:53:02.947" v="1"/>
        <pc:sldMkLst>
          <pc:docMk/>
          <pc:sldMk cId="3652417493" sldId="293"/>
        </pc:sldMkLst>
        <pc:inkChg chg="add">
          <ac:chgData name="Koliya Pulasinghe" userId="3b084d72-9861-4c60-9200-c0531e41d6c4" providerId="ADAL" clId="{27F661AB-F3F1-455C-8A30-F0013F0E3D82}" dt="2026-02-25T05:53:02.947" v="1"/>
          <ac:inkMkLst>
            <pc:docMk/>
            <pc:sldMk cId="3652417493" sldId="293"/>
            <ac:inkMk id="2" creationId="{BD36E601-D09C-20CA-66EB-3E86D9D069B4}"/>
          </ac:inkMkLst>
        </pc:inkChg>
      </pc:sldChg>
      <pc:sldChg chg="addSp">
        <pc:chgData name="Koliya Pulasinghe" userId="3b084d72-9861-4c60-9200-c0531e41d6c4" providerId="ADAL" clId="{27F661AB-F3F1-455C-8A30-F0013F0E3D82}" dt="2026-02-25T05:53:02.947" v="1"/>
        <pc:sldMkLst>
          <pc:docMk/>
          <pc:sldMk cId="1059694537" sldId="294"/>
        </pc:sldMkLst>
        <pc:inkChg chg="add">
          <ac:chgData name="Koliya Pulasinghe" userId="3b084d72-9861-4c60-9200-c0531e41d6c4" providerId="ADAL" clId="{27F661AB-F3F1-455C-8A30-F0013F0E3D82}" dt="2026-02-25T05:53:02.947" v="1"/>
          <ac:inkMkLst>
            <pc:docMk/>
            <pc:sldMk cId="1059694537" sldId="294"/>
            <ac:inkMk id="2" creationId="{1D288412-7A25-7E1C-2AB5-38D0824F6507}"/>
          </ac:inkMkLst>
        </pc:inkChg>
      </pc:sldChg>
      <pc:sldChg chg="addSp">
        <pc:chgData name="Koliya Pulasinghe" userId="3b084d72-9861-4c60-9200-c0531e41d6c4" providerId="ADAL" clId="{27F661AB-F3F1-455C-8A30-F0013F0E3D82}" dt="2026-02-25T05:53:02.947" v="1"/>
        <pc:sldMkLst>
          <pc:docMk/>
          <pc:sldMk cId="272774123" sldId="295"/>
        </pc:sldMkLst>
        <pc:inkChg chg="add">
          <ac:chgData name="Koliya Pulasinghe" userId="3b084d72-9861-4c60-9200-c0531e41d6c4" providerId="ADAL" clId="{27F661AB-F3F1-455C-8A30-F0013F0E3D82}" dt="2026-02-25T05:53:02.947" v="1"/>
          <ac:inkMkLst>
            <pc:docMk/>
            <pc:sldMk cId="272774123" sldId="295"/>
            <ac:inkMk id="9" creationId="{15EF0794-F590-8CBF-EFE1-174B6A94EF5F}"/>
          </ac:inkMkLst>
        </pc:inkChg>
      </pc:sldChg>
      <pc:sldChg chg="addSp">
        <pc:chgData name="Koliya Pulasinghe" userId="3b084d72-9861-4c60-9200-c0531e41d6c4" providerId="ADAL" clId="{27F661AB-F3F1-455C-8A30-F0013F0E3D82}" dt="2026-02-25T05:53:02.947" v="1"/>
        <pc:sldMkLst>
          <pc:docMk/>
          <pc:sldMk cId="3274371401" sldId="296"/>
        </pc:sldMkLst>
        <pc:inkChg chg="add">
          <ac:chgData name="Koliya Pulasinghe" userId="3b084d72-9861-4c60-9200-c0531e41d6c4" providerId="ADAL" clId="{27F661AB-F3F1-455C-8A30-F0013F0E3D82}" dt="2026-02-25T05:53:02.947" v="1"/>
          <ac:inkMkLst>
            <pc:docMk/>
            <pc:sldMk cId="3274371401" sldId="296"/>
            <ac:inkMk id="2" creationId="{1F84F0D8-B085-D52A-B003-50097A738F68}"/>
          </ac:inkMkLst>
        </pc:inkChg>
      </pc:sldChg>
      <pc:sldChg chg="addSp new">
        <pc:chgData name="Koliya Pulasinghe" userId="3b084d72-9861-4c60-9200-c0531e41d6c4" providerId="ADAL" clId="{27F661AB-F3F1-455C-8A30-F0013F0E3D82}" dt="2026-02-25T05:53:02.947" v="1"/>
        <pc:sldMkLst>
          <pc:docMk/>
          <pc:sldMk cId="771518693" sldId="297"/>
        </pc:sldMkLst>
        <pc:inkChg chg="add">
          <ac:chgData name="Koliya Pulasinghe" userId="3b084d72-9861-4c60-9200-c0531e41d6c4" providerId="ADAL" clId="{27F661AB-F3F1-455C-8A30-F0013F0E3D82}" dt="2026-02-25T05:53:02.947" v="1"/>
          <ac:inkMkLst>
            <pc:docMk/>
            <pc:sldMk cId="771518693" sldId="297"/>
            <ac:inkMk id="4" creationId="{9AA89C42-C9F8-992A-6720-2AF10C9F0E31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89FAE-02C0-0D40-C163-7DA634548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521E7-116F-BA14-BF6D-555E2AC9E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26F56-3BB0-EB80-F10B-ED4AD00F6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CBC89-FC04-B9AE-8EE7-AEC5DC96C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1E2F1-0691-FBDC-3430-BB028B9D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772578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D8234-3799-6501-1DC0-FCE71BDA8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93CD6-A2E0-5D9F-92E7-9024A0C3B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B335C-68A6-0E62-3DBA-7C919F8C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2187E-DF64-1021-AF0A-4E33B783D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6CE12-1222-F75F-1393-1B8D7400B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18971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CD019-9FEE-3A56-A7E0-115D91F8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00826-2F0C-EE19-AF81-BEB683472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D3AD1-5C8F-ACA7-6C1A-3CE182290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DC1C4-18DE-6D14-2568-98716B44B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58563-250C-31C9-A514-118EC6BE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5DD575-E969-7CEA-EFC2-CEE3EF966E92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558466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3242-5767-F6C5-27D6-1B60FF90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997FA-89B9-05EB-14B1-1FCE388DC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A22DFD-C488-4130-12A1-CDC98BE52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A8432-BF1A-48F0-ACEF-682D1F071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C474A-BCED-B4DC-6C92-D42CC8727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5C2E6-6C7E-B4F2-788A-368087D2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00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7F27-4CD9-334E-9CB5-F0DE1CBC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85923-15AF-BDBD-FE20-909F2B7D1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8FA48-5947-B794-EE7D-66FCD331F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EC4244-F299-9105-ABA7-CDDAC73EE8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C938B-7DD1-C3B2-F2E3-24419F6A8F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B56672-818E-6193-44DA-D82AFF268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C5C7B-A35F-D700-FDAF-1BBA7C742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88E618-F20D-7FA7-FDEA-663416F61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335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F04D3-AF7C-1870-95A8-F92CE96D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F3CA68-5934-7BE8-B577-94FDC3CF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ED917-ED6C-7DA6-CBA8-A0C583766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5E2B4-C0B8-1300-25CA-9143A987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287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2ECE-332B-FAD0-A426-941647319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1B0768-C6B0-2BB6-3C0C-823750A21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FE8B0-CB36-E6CA-8350-786807D6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二等辺三角形 9">
            <a:extLst>
              <a:ext uri="{FF2B5EF4-FFF2-40B4-BE49-F238E27FC236}">
                <a16:creationId xmlns:a16="http://schemas.microsoft.com/office/drawing/2014/main" id="{33544A65-6B0B-934F-0DDD-0FB7622A31BD}"/>
              </a:ext>
            </a:extLst>
          </p:cNvPr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6" name="二等辺三角形 10">
            <a:extLst>
              <a:ext uri="{FF2B5EF4-FFF2-40B4-BE49-F238E27FC236}">
                <a16:creationId xmlns:a16="http://schemas.microsoft.com/office/drawing/2014/main" id="{9216226A-AD9D-CDCC-8E6E-0692897A7BC0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D9FFA4-B708-EF64-EA50-483F8EF4EDCA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972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2EBD-3084-02D3-2308-3F4EF827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44D32-3AE8-0D20-EFF8-2FAF495E6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5D239-60E3-D5DB-360A-07A6F3FF7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41330-AB97-65FA-A75B-A240B4B43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D8858-6FC5-E53F-3A71-B337F5BA3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14CD7-F354-25B0-278A-49FFC3C8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二等辺三角形 11">
            <a:extLst>
              <a:ext uri="{FF2B5EF4-FFF2-40B4-BE49-F238E27FC236}">
                <a16:creationId xmlns:a16="http://schemas.microsoft.com/office/drawing/2014/main" id="{7A8184B5-6601-DD7D-4F97-D74B428B9061}"/>
              </a:ext>
            </a:extLst>
          </p:cNvPr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9" name="二等辺三角形 9">
            <a:extLst>
              <a:ext uri="{FF2B5EF4-FFF2-40B4-BE49-F238E27FC236}">
                <a16:creationId xmlns:a16="http://schemas.microsoft.com/office/drawing/2014/main" id="{9CB921A4-BF74-BB51-7125-3BC61E76FC6F}"/>
              </a:ext>
            </a:extLst>
          </p:cNvPr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0" name="二等辺三角形 10">
            <a:extLst>
              <a:ext uri="{FF2B5EF4-FFF2-40B4-BE49-F238E27FC236}">
                <a16:creationId xmlns:a16="http://schemas.microsoft.com/office/drawing/2014/main" id="{5040542B-27A4-7A4F-1405-005682C5E913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988038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00B2A-4660-2C8F-F716-598151F48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F89045-A248-EA6B-4D8F-61613B72E7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CD13C-DBA4-05F8-7EA4-E97C33D143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7D6EE-008F-62CF-F196-699110767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156C8-0470-C3C7-6845-51FCC1AB9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75EA8-E92A-FB14-077B-2BA71BE18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二等辺三角形 10">
            <a:extLst>
              <a:ext uri="{FF2B5EF4-FFF2-40B4-BE49-F238E27FC236}">
                <a16:creationId xmlns:a16="http://schemas.microsoft.com/office/drawing/2014/main" id="{6DF36DF1-F8BB-4E17-CA78-58C22E14A591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883047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CF616-2DFA-8BF5-2D9B-8F2BDE02C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2819E-7473-EFC3-7044-52F725656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ECF43-E347-E948-6489-A40A893C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820CA-22CD-BA9B-86BF-C064A163E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B9674-4565-E9D1-53D1-E49E65EE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二等辺三角形 10">
            <a:extLst>
              <a:ext uri="{FF2B5EF4-FFF2-40B4-BE49-F238E27FC236}">
                <a16:creationId xmlns:a16="http://schemas.microsoft.com/office/drawing/2014/main" id="{8E9A31FF-1813-4C54-46C6-FBCD86E8B0E8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2486061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24E66A-7698-A6FC-F1B4-98D714CEF6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856A2-4125-7460-2EF6-E390961CC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435D7-41A0-2D38-85FF-2B70070A7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37AD5-0C21-C201-1027-C4FA3D0A0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83C7E-7E3E-18AB-5350-9B1EC6283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二等辺三角形 9">
            <a:extLst>
              <a:ext uri="{FF2B5EF4-FFF2-40B4-BE49-F238E27FC236}">
                <a16:creationId xmlns:a16="http://schemas.microsoft.com/office/drawing/2014/main" id="{DD14D8EE-7331-C374-9CE1-CA99EA8D0356}"/>
              </a:ext>
            </a:extLst>
          </p:cNvPr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8" name="二等辺三角形 10">
            <a:extLst>
              <a:ext uri="{FF2B5EF4-FFF2-40B4-BE49-F238E27FC236}">
                <a16:creationId xmlns:a16="http://schemas.microsoft.com/office/drawing/2014/main" id="{5251DC14-4D59-2132-5795-32629695A5E5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293069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9CB220-8C4B-74FF-29B5-8281EE64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E2F65-2F48-231B-8919-FBB41E3C2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96206-4EF1-CF58-C78F-0702F123B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48A06-4624-418B-3217-C7C054B275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F47BB-17C0-5198-A35E-1C7028099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17FACA-B3AF-C5C3-FDC5-419126C0046B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ADEA0655-A806-CBD9-5368-F6C2885617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5580B0-5C06-638F-AA92-92EE678A04C3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3/14/2026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272635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662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FF16190-562A-1C45-8049-D2E65B2984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70B645-3AA4-2E3D-571F-786B8D4B6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3050"/>
            <a:ext cx="4419599" cy="2393950"/>
          </a:xfrm>
        </p:spPr>
        <p:txBody>
          <a:bodyPr anchor="b">
            <a:normAutofit fontScale="90000"/>
          </a:bodyPr>
          <a:lstStyle/>
          <a:p>
            <a:r>
              <a:rPr lang="en-US" sz="4000" b="1" dirty="0"/>
              <a:t>Hybrid AI-based Detection of fileless malware in IOMT Healthcare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5A9AC-835B-6C6C-5086-297B213B4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3581400"/>
            <a:ext cx="4011084" cy="2544764"/>
          </a:xfrm>
        </p:spPr>
        <p:txBody>
          <a:bodyPr>
            <a:normAutofit/>
          </a:bodyPr>
          <a:lstStyle/>
          <a:p>
            <a:r>
              <a:rPr lang="en-US" sz="2000" dirty="0"/>
              <a:t>R26-CS-006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22D3A6-8366-9649-FDDE-0C4768056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2" r="17716" b="1"/>
          <a:stretch>
            <a:fillRect/>
          </a:stretch>
        </p:blipFill>
        <p:spPr>
          <a:xfrm>
            <a:off x="5376333" y="0"/>
            <a:ext cx="6815667" cy="61261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71518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D82C5CB-C4B0-1B99-A87F-3C7A1CC4FD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6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6E67BA-C0EA-3B0A-9B8B-148DF9DD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66" y="-2875"/>
            <a:ext cx="9067799" cy="1130300"/>
          </a:xfrm>
        </p:spPr>
        <p:txBody>
          <a:bodyPr>
            <a:normAutofit/>
          </a:bodyPr>
          <a:lstStyle/>
          <a:p>
            <a:r>
              <a:rPr lang="en-US" sz="5400" dirty="0"/>
              <a:t>Team Members 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60F69BE-71F4-B7BB-6E7D-1E1B7FD2CE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8490389"/>
              </p:ext>
            </p:extLst>
          </p:nvPr>
        </p:nvGraphicFramePr>
        <p:xfrm>
          <a:off x="609600" y="2679940"/>
          <a:ext cx="6815136" cy="2587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7568">
                  <a:extLst>
                    <a:ext uri="{9D8B030D-6E8A-4147-A177-3AD203B41FA5}">
                      <a16:colId xmlns:a16="http://schemas.microsoft.com/office/drawing/2014/main" val="34195208"/>
                    </a:ext>
                  </a:extLst>
                </a:gridCol>
                <a:gridCol w="3407568">
                  <a:extLst>
                    <a:ext uri="{9D8B030D-6E8A-4147-A177-3AD203B41FA5}">
                      <a16:colId xmlns:a16="http://schemas.microsoft.com/office/drawing/2014/main" val="1176105766"/>
                    </a:ext>
                  </a:extLst>
                </a:gridCol>
              </a:tblGrid>
              <a:tr h="517585">
                <a:tc>
                  <a:txBody>
                    <a:bodyPr/>
                    <a:lstStyle/>
                    <a:p>
                      <a:r>
                        <a:rPr lang="en-US" dirty="0"/>
                        <a:t>Student Nama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 Number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917692"/>
                  </a:ext>
                </a:extLst>
              </a:tr>
              <a:tr h="517585">
                <a:tc>
                  <a:txBody>
                    <a:bodyPr/>
                    <a:lstStyle/>
                    <a:p>
                      <a:r>
                        <a:rPr lang="en-US" dirty="0"/>
                        <a:t>Chathuranga L.A.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IT22108272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596473"/>
                  </a:ext>
                </a:extLst>
              </a:tr>
              <a:tr h="517585">
                <a:tc>
                  <a:txBody>
                    <a:bodyPr/>
                    <a:lstStyle/>
                    <a:p>
                      <a:r>
                        <a:rPr lang="pt-BR" dirty="0"/>
                        <a:t>Fernando M.S. 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IT22080530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23837"/>
                  </a:ext>
                </a:extLst>
              </a:tr>
              <a:tr h="517585">
                <a:tc>
                  <a:txBody>
                    <a:bodyPr/>
                    <a:lstStyle/>
                    <a:p>
                      <a:r>
                        <a:rPr lang="en-US" dirty="0" err="1"/>
                        <a:t>Pagodaarachchi</a:t>
                      </a:r>
                      <a:r>
                        <a:rPr lang="en-US" dirty="0"/>
                        <a:t> R.T.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IT22135070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259927"/>
                  </a:ext>
                </a:extLst>
              </a:tr>
              <a:tr h="517585">
                <a:tc>
                  <a:txBody>
                    <a:bodyPr/>
                    <a:lstStyle/>
                    <a:p>
                      <a:r>
                        <a:rPr lang="en-US" dirty="0"/>
                        <a:t>Shakya W.A.R.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IT22210142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609212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4C75B-376A-483D-3E4B-3840AB6C1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435101"/>
            <a:ext cx="11277599" cy="1231899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/>
              <a:t>Supervisor – Mr. </a:t>
            </a:r>
            <a:r>
              <a:rPr lang="en-US" sz="2400" b="1" dirty="0" err="1"/>
              <a:t>Knishak</a:t>
            </a:r>
            <a:r>
              <a:rPr lang="en-US" sz="2400" b="1" dirty="0"/>
              <a:t> Yapa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/>
              <a:t>Co-Supervisor – Mr. </a:t>
            </a:r>
            <a:r>
              <a:rPr lang="en-US" sz="2400" b="1" dirty="0" err="1"/>
              <a:t>Dinith</a:t>
            </a:r>
            <a:r>
              <a:rPr lang="en-US" sz="2400" b="1" dirty="0"/>
              <a:t> Primal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96DA2E-E3B9-56AA-1E6C-D1AD21608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736" y="1134614"/>
            <a:ext cx="4767264" cy="496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541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4822D22-63F7-36FA-4844-A84C98BC9B7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0279B01-6869-4979-ADC9-18D9486D0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Introduction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14BED0-C439-F161-710A-F0769F5A9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7" b="4607"/>
          <a:stretch>
            <a:fillRect/>
          </a:stretch>
        </p:blipFill>
        <p:spPr>
          <a:xfrm>
            <a:off x="76200" y="1253330"/>
            <a:ext cx="5486400" cy="4842669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4C11C0-9458-44AA-961E-D5AA11BE5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/>
            <a:r>
              <a:rPr lang="en-US" sz="1800"/>
              <a:t>Problem ?</a:t>
            </a:r>
          </a:p>
          <a:p>
            <a:r>
              <a:rPr lang="en-US" sz="1800"/>
              <a:t>Increase use of the IOMT device in the Healthcare infrastructure.</a:t>
            </a:r>
          </a:p>
          <a:p>
            <a:r>
              <a:rPr lang="en-US" sz="1800"/>
              <a:t>Fileless malware executes mainly in memory using legitimate tools (PowerShell/WMI), leaving minimal disk artifacts.</a:t>
            </a:r>
          </a:p>
          <a:p>
            <a:r>
              <a:rPr lang="en-US" sz="1800"/>
              <a:t>This makes detection difficult for traditional signature/file-based security tools.</a:t>
            </a:r>
          </a:p>
          <a:p>
            <a:pPr marL="0" indent="0"/>
            <a:r>
              <a:rPr lang="en-US" sz="1800"/>
              <a:t>Why?</a:t>
            </a:r>
          </a:p>
          <a:p>
            <a:r>
              <a:rPr lang="en-US" sz="1800"/>
              <a:t>Attackers increasingly use stealth techniques to evade defenses and stay persistent.</a:t>
            </a:r>
          </a:p>
          <a:p>
            <a:r>
              <a:rPr lang="en-US" sz="1800"/>
              <a:t>A single foothold on a Windows endpoint can enable lateral movement to critical systems, causing downtime and safety risk.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7A5BD793-4553-852E-7256-46FEA025CB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F89F5A0-C42F-4E26-963F-E258D1CB7371}" type="datetime1">
              <a:rPr/>
              <a:pPr>
                <a:spcAft>
                  <a:spcPts val="600"/>
                </a:spcAft>
              </a:pPr>
              <a:t>3/14/2026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AF658C8-DB2E-95FB-710F-FC44CB936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02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4C4F175-8CC1-C509-899F-BDCC25683D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FD1735-6359-6691-CC83-C6418B8C9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User and Stakeholders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6340D-8A07-4B9A-E080-C8726629A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u="sng"/>
              <a:t>Stakeholders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/>
              <a:t>Hospital and healthcare infrastructures.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/>
              <a:t>Medical IT administrations.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/>
              <a:t>Cyber security analyst.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/>
              <a:t>Patients.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200"/>
          </a:p>
          <a:p>
            <a:r>
              <a:rPr lang="en-US" sz="2200"/>
              <a:t>After initial foothold, the attacker could manipulate medical images, disrupt clinical services , patient data theft and spread ransomware.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2A60227-9D7A-FC25-9FF6-B5B0D00593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3" r="4284" b="-3"/>
          <a:stretch>
            <a:fillRect/>
          </a:stretch>
        </p:blipFill>
        <p:spPr>
          <a:xfrm>
            <a:off x="6892506" y="1295400"/>
            <a:ext cx="5181600" cy="4351338"/>
          </a:xfrm>
          <a:prstGeom prst="rect">
            <a:avLst/>
          </a:pr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79147-5966-767C-0B8C-11B3B80513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DD50FB-F570-4E83-9E93-726B12741A4B}" type="datetime1">
              <a:rPr lang="en-US" smtClean="0"/>
              <a:pPr>
                <a:spcAft>
                  <a:spcPts val="600"/>
                </a:spcAft>
              </a:pPr>
              <a:t>3/14/2026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64DA4-037D-E157-2BB5-74AFFE2F7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09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EBA0A90-EA78-2361-505E-0CFB95A28D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AEC4FB-34B8-911B-2E17-1F86EB45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Existing solutions and limitations.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DFE4FC-4565-7FCA-AD7C-26275A7370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7" r="10316" b="-2"/>
          <a:stretch>
            <a:fillRect/>
          </a:stretch>
        </p:blipFill>
        <p:spPr>
          <a:xfrm>
            <a:off x="11502" y="1253331"/>
            <a:ext cx="5181600" cy="4351338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BAC96-D722-51DE-1495-95C26B6E7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600" dirty="0"/>
              <a:t>Existing cyber security solution has one important limitation on IOMT malware detection.</a:t>
            </a:r>
          </a:p>
          <a:p>
            <a:r>
              <a:rPr lang="en-US" sz="2600" dirty="0"/>
              <a:t>Therefore, existing solutions fails to detect,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Fileless malware.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Multi-stage cyber attacks.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Lateral Movement across the networks.</a:t>
            </a:r>
          </a:p>
          <a:p>
            <a:r>
              <a:rPr lang="en-US" sz="2600" dirty="0"/>
              <a:t>Also lack the explainability .</a:t>
            </a:r>
          </a:p>
          <a:p>
            <a:endParaRPr lang="en-US" sz="2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9ECFE-C823-8B66-8D36-996A2F551A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00A47BB-B6E5-4225-AF64-A7D2F3FC7EE3}" type="datetime1">
              <a:rPr lang="en-US" smtClean="0"/>
              <a:pPr>
                <a:spcAft>
                  <a:spcPts val="600"/>
                </a:spcAft>
              </a:pPr>
              <a:t>3/14/2026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D4C32-5942-B5EA-9C56-A9495B0EB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417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6AF667C-2B14-57B4-72E9-1AB8FAE8D4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7726D6-35E8-8292-7077-94459F60E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Proposed Solution.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0AFE1-7693-48EB-69A6-227D10F33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Proposed solution is a hybrid multi-layer cybersecurity system for IOMT environments.</a:t>
            </a:r>
          </a:p>
          <a:p>
            <a:r>
              <a:rPr lang="en-US" sz="1800" dirty="0"/>
              <a:t>System integrates multiple detection mechanism in multiple layers.</a:t>
            </a:r>
          </a:p>
          <a:p>
            <a:r>
              <a:rPr lang="en-US" sz="1800" dirty="0"/>
              <a:t>The systems consist of four components,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Detects anomalies in DICOM medical imagine traffic.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Detects </a:t>
            </a:r>
            <a:r>
              <a:rPr lang="en-US" sz="1800" dirty="0" err="1"/>
              <a:t>Powershell</a:t>
            </a:r>
            <a:r>
              <a:rPr lang="en-US" sz="1800" dirty="0"/>
              <a:t> based fileless malware behavior at the endpoint.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Predict the emerging attack patterns using the threat forecasting engine.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Correlates alerts from multiple layer and 	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43953E3-EA77-72C5-0667-05B7C3B41F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80" b="2043"/>
          <a:stretch>
            <a:fillRect/>
          </a:stretch>
        </p:blipFill>
        <p:spPr>
          <a:xfrm>
            <a:off x="6858000" y="1219200"/>
            <a:ext cx="5181600" cy="4800600"/>
          </a:xfrm>
          <a:prstGeom prst="rect">
            <a:avLst/>
          </a:pr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E7966-F84D-68DF-A7AA-3D2275D6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A7EE13E-41DD-483F-AE3F-96BF3061585B}" type="datetime1">
              <a:rPr lang="en-US" smtClean="0"/>
              <a:pPr>
                <a:spcAft>
                  <a:spcPts val="600"/>
                </a:spcAft>
              </a:pPr>
              <a:t>3/14/2026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75267-B850-1B0C-8B61-89444A0C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94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433F740-C753-632E-FA8F-2FFF32A6FE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3429001"/>
            <a:ext cx="10363200" cy="230844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This component focuses on detecting lateral movement attacks within the IOMT healthcare infrastructure. </a:t>
            </a: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2B1B0E-3A95-38D8-C68C-389F644DF9F9}"/>
              </a:ext>
            </a:extLst>
          </p:cNvPr>
          <p:cNvSpPr/>
          <p:nvPr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4" y="6492875"/>
            <a:ext cx="681636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IT22210142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b="1" dirty="0">
                <a:solidFill>
                  <a:schemeClr val="tx1"/>
                </a:solidFill>
              </a:rPr>
              <a:t>Shakya W.A.R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R26-CS-006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2366E1-D035-2240-384C-F2EA1E745EC3}"/>
              </a:ext>
            </a:extLst>
          </p:cNvPr>
          <p:cNvSpPr txBox="1"/>
          <p:nvPr/>
        </p:nvSpPr>
        <p:spPr>
          <a:xfrm>
            <a:off x="2020019" y="2046840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IT22210142</a:t>
            </a:r>
            <a:r>
              <a:rPr lang="en-US" sz="2800" dirty="0">
                <a:solidFill>
                  <a:schemeClr val="tx1"/>
                </a:solidFill>
              </a:rPr>
              <a:t>   |   </a:t>
            </a:r>
            <a:r>
              <a:rPr lang="en-US" sz="2800" b="1" dirty="0">
                <a:solidFill>
                  <a:schemeClr val="tx1"/>
                </a:solidFill>
              </a:rPr>
              <a:t>Shakya W.A.R   </a:t>
            </a:r>
            <a:endParaRPr lang="en-US" sz="2800" b="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89C66D-8A17-6933-F190-200B49FE8E8E}"/>
              </a:ext>
            </a:extLst>
          </p:cNvPr>
          <p:cNvSpPr txBox="1"/>
          <p:nvPr/>
        </p:nvSpPr>
        <p:spPr>
          <a:xfrm>
            <a:off x="647700" y="232559"/>
            <a:ext cx="8839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Cross-Layer Lateral movement correlation detection engine and XAI dashboard.</a:t>
            </a:r>
          </a:p>
        </p:txBody>
      </p:sp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B3F5085-75D1-4F80-0035-FA78037A14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5E8883F-180F-41FF-B53F-EF49BD95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highlight>
                  <a:srgbClr val="FFFF00"/>
                </a:highlight>
                <a:latin typeface="+mj-lt"/>
                <a:ea typeface="+mj-ea"/>
                <a:cs typeface="+mj-cs"/>
              </a:rPr>
              <a:t>Cross layer lateral movement correlation detection engine and XAI dashboard.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53AEB1-B06A-4385-9D7D-63D45599F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vert="horz" lIns="91440" tIns="45720" rIns="91440" bIns="45720" rtlCol="0" anchor="b">
            <a:normAutofit fontScale="47500" lnSpcReduction="20000"/>
          </a:bodyPr>
          <a:lstStyle/>
          <a:p>
            <a:endParaRPr lang="en-US" b="1" kern="1200" dirty="0">
              <a:latin typeface="+mn-lt"/>
              <a:ea typeface="+mn-ea"/>
              <a:cs typeface="+mn-cs"/>
            </a:endParaRPr>
          </a:p>
          <a:p>
            <a:endParaRPr lang="en-US" b="1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97ADCF-FEC8-B793-7B30-10AB873BF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9" r="190" b="-1"/>
          <a:stretch>
            <a:fillRect/>
          </a:stretch>
        </p:blipFill>
        <p:spPr>
          <a:xfrm>
            <a:off x="381000" y="1707941"/>
            <a:ext cx="5157787" cy="3684588"/>
          </a:xfrm>
          <a:prstGeom prst="rect">
            <a:avLst/>
          </a:prstGeom>
          <a:noFill/>
        </p:spPr>
      </p:pic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6EBF395-C0D6-3D17-9380-AFA0AAE46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>
            <a:normAutofit fontScale="47500" lnSpcReduction="2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sz="4200" dirty="0"/>
              <a:t>Problem Definition and Novelty 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8814DD-B591-DFE5-7A32-64469AE2C56F}"/>
              </a:ext>
            </a:extLst>
          </p:cNvPr>
          <p:cNvSpPr txBox="1"/>
          <p:nvPr/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Lateral movement is a critical phase in any cyber attacks.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Major challenge is that traditional systems  analyze these event independently.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Resulting many individual alerts without proper understanding on how these are connected.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The main goal is to correlate security events across multiple systems layers and detect lateral movement patterns.</a:t>
            </a:r>
          </a:p>
        </p:txBody>
      </p:sp>
      <p:sp>
        <p:nvSpPr>
          <p:cNvPr id="14" name="Date Placeholder 6">
            <a:extLst>
              <a:ext uri="{FF2B5EF4-FFF2-40B4-BE49-F238E27FC236}">
                <a16:creationId xmlns:a16="http://schemas.microsoft.com/office/drawing/2014/main" id="{6D085AB0-4EBA-6566-D9D9-3CD74C25FD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D7BC791-54A3-4D09-A33B-47EFA6F4C93B}" type="datetime1">
              <a:rPr lang="en-US"/>
              <a:pPr>
                <a:spcAft>
                  <a:spcPts val="600"/>
                </a:spcAft>
              </a:pPr>
              <a:t>3/15/2026</a:t>
            </a:fld>
            <a:endParaRPr lang="en-US" dirty="0"/>
          </a:p>
        </p:txBody>
      </p:sp>
      <p:sp>
        <p:nvSpPr>
          <p:cNvPr id="16" name="Slide Number Placeholder 7">
            <a:extLst>
              <a:ext uri="{FF2B5EF4-FFF2-40B4-BE49-F238E27FC236}">
                <a16:creationId xmlns:a16="http://schemas.microsoft.com/office/drawing/2014/main" id="{C86D7D56-120F-0397-8A43-CFC03E4B5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32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5279848-2840-2015-C2F8-A66ECEA12C1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5A95F9-FC73-CD3F-6E9D-724C465A8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Cross layer lateral movement correlation detection engine and XAI dashboard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17350-A497-D36A-AE14-DCE7A8EFE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D31C2-6143-F835-1D32-060175486C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Main objective.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To develop cross layer lateral movement correlation engine that detects multi stage cyber attacks.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386165-91AB-FF0E-FA1D-5441442367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Sub-Objectives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E5E4E5-DCA2-336D-42C5-821E64C867D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Collecting alerts from different layers and available dataset </a:t>
            </a:r>
          </a:p>
          <a:p>
            <a:r>
              <a:rPr lang="en-US" dirty="0"/>
              <a:t>Correlate the collected alerts to find patterns.</a:t>
            </a:r>
          </a:p>
          <a:p>
            <a:r>
              <a:rPr lang="en-US" dirty="0"/>
              <a:t>Vulnerability assessment data.</a:t>
            </a:r>
          </a:p>
          <a:p>
            <a:r>
              <a:rPr lang="en-US" dirty="0"/>
              <a:t>Apply explainable ai to provide insight.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45285A-D43F-6F6F-3EC6-94EDFE440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54DA5-BA33-45A6-8B06-0CEFECEED008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A31FF90-C3D9-B1D4-9F88-8FF76E5A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303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4F21682-5291-BB99-177C-4BC8EA97B8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992D1A-F4B0-7EC6-88DD-9828CA565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Cross layer lateral movement correlation detection engine and XAI dashboard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B0B4A-CD1A-D8DE-D65C-75BD5C384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/>
          <a:p>
            <a:r>
              <a:rPr lang="en-US" dirty="0"/>
              <a:t>Applied cybersecurity domain knowledge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4C34F-C33F-2BDE-60BA-D6F6AB83B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/>
          <a:p>
            <a:pPr lvl="1"/>
            <a:r>
              <a:rPr lang="en-US" sz="2200"/>
              <a:t>Lateral movement tactics.</a:t>
            </a:r>
          </a:p>
          <a:p>
            <a:pPr lvl="1"/>
            <a:r>
              <a:rPr lang="en-US" sz="2200"/>
              <a:t>Kill chain / MITRE ATT&amp;CK mapping.</a:t>
            </a:r>
          </a:p>
          <a:p>
            <a:pPr lvl="1"/>
            <a:r>
              <a:rPr lang="en-US" sz="2200"/>
              <a:t>Incident response + SOC workflow.</a:t>
            </a:r>
          </a:p>
          <a:p>
            <a:pPr lvl="1"/>
            <a:r>
              <a:rPr lang="en-US" sz="2200"/>
              <a:t>Healthcare IoMT constraints.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/>
              <a:t>Helps define </a:t>
            </a:r>
            <a:r>
              <a:rPr lang="en-US" sz="2200" b="1"/>
              <a:t>what relationships are “suspicious”,</a:t>
            </a:r>
            <a:r>
              <a:rPr lang="en-US" sz="2200"/>
              <a:t> and also Helps define </a:t>
            </a:r>
            <a:r>
              <a:rPr lang="en-US" sz="2200" b="1"/>
              <a:t>what relationships are “suspicious”</a:t>
            </a:r>
            <a:endParaRPr lang="en-US" sz="220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B27B177-038E-A1A6-5E3D-100F72DD60D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88" r="2178" b="1"/>
          <a:stretch>
            <a:fillRect/>
          </a:stretch>
        </p:blipFill>
        <p:spPr>
          <a:xfrm>
            <a:off x="6172200" y="2505075"/>
            <a:ext cx="5183188" cy="3684588"/>
          </a:xfrm>
          <a:prstGeom prst="rect">
            <a:avLst/>
          </a:prstGeom>
          <a:noFill/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AD349F-C500-F747-5C9D-F3ED2727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74632A-736C-4DC4-A279-DAE1D8CC5D15}" type="datetime1">
              <a:rPr lang="en-US" smtClean="0"/>
              <a:pPr>
                <a:spcAft>
                  <a:spcPts val="600"/>
                </a:spcAft>
              </a:pPr>
              <a:t>3/15/2026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A7171F0-6D4C-F2DB-6935-5E5A4F4A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65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5248AF2-FCD2-771B-461E-B7DA74CA12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36361A-41A7-84A8-C9B3-3D34DF5B7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Cross layer lateral movement correlation detection engine and XAI dashboard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832C0-C2E9-8758-C0A1-37E4750D9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Used Technologies.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76D73-BD9D-FFC5-DF5F-4A4CF97579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Neo4j</a:t>
            </a:r>
          </a:p>
          <a:p>
            <a:r>
              <a:rPr lang="en-US" dirty="0"/>
              <a:t>SHAP/LIME.</a:t>
            </a:r>
          </a:p>
          <a:p>
            <a:r>
              <a:rPr lang="en-US" dirty="0"/>
              <a:t>MITRE ATT&amp;CK technique .</a:t>
            </a:r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C748B72-A642-3451-A4A6-BA046AF9991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093119"/>
            <a:ext cx="2542037" cy="954026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C52370-FF1B-F1B6-92D3-403E14B54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EDD9-48AA-4D15-85D0-464FD1673FB5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951D3ED-C69B-6241-5535-A33926D2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11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634FF7-CFBD-60CC-4E07-DE6F6CF3B0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3449576"/>
            <a:ext cx="3568111" cy="13255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AA7501-6D3F-0B9E-15F5-376E7CD9D6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380" y="4827599"/>
            <a:ext cx="3034475" cy="182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0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9BCE08E-9CB2-5456-FDA4-F2827547FC6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FE0C1F-505C-DC68-1D82-2F987F2A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Cross layer lateral movement correlation detection engine and XAI dashboard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3A8CB-5A7F-362F-5367-51BAECE5A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validation.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655AD-0489-2D66-9ED1-BF41E479A4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Correlation performance</a:t>
            </a:r>
          </a:p>
          <a:p>
            <a:pPr lvl="1"/>
            <a:r>
              <a:rPr lang="en-US" sz="2000" dirty="0"/>
              <a:t>Incident clustering.</a:t>
            </a:r>
          </a:p>
          <a:p>
            <a:pPr lvl="1"/>
            <a:r>
              <a:rPr lang="en-US" sz="2000" dirty="0"/>
              <a:t>Chain/path accuracy.</a:t>
            </a:r>
          </a:p>
          <a:p>
            <a:pPr lvl="1"/>
            <a:r>
              <a:rPr lang="en-US" sz="2000" dirty="0"/>
              <a:t>Alert reduction ratio.</a:t>
            </a:r>
          </a:p>
          <a:p>
            <a:r>
              <a:rPr lang="en-US" sz="2400" dirty="0"/>
              <a:t>Operational usefulness.</a:t>
            </a:r>
          </a:p>
          <a:p>
            <a:pPr lvl="1"/>
            <a:r>
              <a:rPr lang="en-US" sz="2000" dirty="0"/>
              <a:t>Time-to-trigger.</a:t>
            </a:r>
          </a:p>
          <a:p>
            <a:pPr lvl="1"/>
            <a:r>
              <a:rPr lang="en-US" sz="2000" dirty="0"/>
              <a:t>Prioritization quality.</a:t>
            </a:r>
          </a:p>
          <a:p>
            <a:r>
              <a:rPr lang="en-US" sz="2400" dirty="0"/>
              <a:t>Explainability.</a:t>
            </a:r>
          </a:p>
          <a:p>
            <a:pPr lvl="1"/>
            <a:r>
              <a:rPr lang="en-US" sz="2000" dirty="0"/>
              <a:t>Analyst feedback.</a:t>
            </a:r>
          </a:p>
          <a:p>
            <a:pPr lvl="1"/>
            <a:r>
              <a:rPr lang="en-US" sz="2000" dirty="0"/>
              <a:t>Consistency check.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B58E094-FD6B-2040-0E44-FCA140243D9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882" y="1981200"/>
            <a:ext cx="6497435" cy="40386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86A5C9-849D-2193-EB01-BFFD4DC8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C9CC-D4E0-420D-91E2-405882860DFA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6F66F74-BA14-9778-6FB4-2BB5DB03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48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970396C-6C68-B7A4-7FBB-B930C771BD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8D4943-C010-B523-6997-9A0A9B1BC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Cross layer lateral movement correlation detection engine and XAI dashboard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C9FE2-2974-9842-2317-C70EF8467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Availability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EE06C-5C43-C36B-D0C7-C3FB6798625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Primary public datasets-</a:t>
            </a:r>
            <a:endParaRPr lang="en-US" sz="2000" dirty="0"/>
          </a:p>
          <a:p>
            <a:r>
              <a:rPr lang="en-US" sz="2000" b="1" dirty="0"/>
              <a:t>LANL Cyber1 / Authentication dataset</a:t>
            </a:r>
            <a:r>
              <a:rPr lang="en-US" sz="2000" dirty="0"/>
              <a:t> – timestamped </a:t>
            </a:r>
            <a:r>
              <a:rPr lang="en-US" sz="2000" dirty="0" err="1"/>
              <a:t>user↔host</a:t>
            </a:r>
            <a:r>
              <a:rPr lang="en-US" sz="2000" dirty="0"/>
              <a:t> events for lateral-movement chain reconstruction</a:t>
            </a:r>
          </a:p>
          <a:p>
            <a:r>
              <a:rPr lang="en-US" sz="2000" b="1" dirty="0"/>
              <a:t>OTRF Security-Datasets / EVTX-to-MITRE-Attack</a:t>
            </a:r>
            <a:r>
              <a:rPr lang="en-US" sz="2000" dirty="0"/>
              <a:t> – Windows event logs (process/auth/network) for multi-source incident correlation</a:t>
            </a:r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A83E9F4-B6FC-37D3-5416-834DF8D401F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849" y="1682601"/>
            <a:ext cx="4572000" cy="4056063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0F9831-42FD-136A-B364-F818C0C9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584A3-A73F-43F4-A567-957204E0B5E5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219A1C-76DF-0458-32C3-5CDF39C74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462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7C041-68BE-D886-9C99-B862B2A7A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7106" y="445295"/>
            <a:ext cx="5157787" cy="82391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System Overview of the Individual Component</a:t>
            </a:r>
          </a:p>
          <a:p>
            <a:endParaRPr lang="en-US" sz="18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D916C0-7071-C924-E79D-E6358520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A2E0E-3FCE-4269-9A49-BAC62949178F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A3EA5A1-4ECB-961A-F4F1-84056BD3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14</a:t>
            </a:fld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3D86BBB-369C-A04E-9E85-72E384FDFD7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838200"/>
            <a:ext cx="8380606" cy="551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63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342DE0CF-408B-5751-C1E6-5EEB8D71393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48A31D-EC38-A00D-0E00-223CC7B9A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08502"/>
            <a:ext cx="10515600" cy="1325563"/>
          </a:xfrm>
        </p:spPr>
        <p:txBody>
          <a:bodyPr/>
          <a:lstStyle/>
          <a:p>
            <a:r>
              <a:rPr lang="en-US" dirty="0"/>
              <a:t>Commercialization Plan.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E7C0C-C0EB-C243-1C5A-B6F1D33C3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697877"/>
            <a:ext cx="5157787" cy="823912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Target Market &amp; Customer Profile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60AC1-D666-36D4-CFF9-26F666026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800" y="2505075"/>
            <a:ext cx="5157787" cy="3684588"/>
          </a:xfrm>
        </p:spPr>
        <p:txBody>
          <a:bodyPr/>
          <a:lstStyle/>
          <a:p>
            <a:r>
              <a:rPr lang="en-US" sz="1800" dirty="0"/>
              <a:t>Market.</a:t>
            </a:r>
          </a:p>
          <a:p>
            <a:r>
              <a:rPr lang="en-US" sz="1800" dirty="0"/>
              <a:t>Customers.</a:t>
            </a:r>
          </a:p>
          <a:p>
            <a:pPr marL="0" indent="0">
              <a:buNone/>
            </a:pPr>
            <a:r>
              <a:rPr lang="en-US" b="1" dirty="0"/>
              <a:t>Value Proposition</a:t>
            </a:r>
          </a:p>
          <a:p>
            <a:r>
              <a:rPr lang="en-US" sz="1800" dirty="0"/>
              <a:t>Detects </a:t>
            </a:r>
            <a:r>
              <a:rPr lang="en-US" sz="1800" b="1" dirty="0"/>
              <a:t>fileless PowerShell/WMI attacks</a:t>
            </a:r>
            <a:r>
              <a:rPr lang="en-US" sz="1800" dirty="0"/>
              <a:t> + protects </a:t>
            </a:r>
            <a:r>
              <a:rPr lang="en-US" sz="1800" b="1" dirty="0"/>
              <a:t>PACS/DICOM workflows.</a:t>
            </a:r>
          </a:p>
          <a:p>
            <a:r>
              <a:rPr lang="en-US" sz="1800" b="1" dirty="0"/>
              <a:t>Cross-layer correlation</a:t>
            </a:r>
            <a:r>
              <a:rPr lang="en-US" sz="1800" dirty="0"/>
              <a:t> reduces alert overload → faster triage &amp; response.</a:t>
            </a:r>
          </a:p>
          <a:p>
            <a:r>
              <a:rPr lang="en-US" sz="1800" b="1" dirty="0"/>
              <a:t>Non-intrusive monitoring overlay</a:t>
            </a:r>
            <a:r>
              <a:rPr lang="en-US" sz="1800" dirty="0"/>
              <a:t> (suitable for high-availability healthcare).</a:t>
            </a:r>
            <a:endParaRPr lang="en-US" sz="1800" b="1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E77B89-FD84-AAFA-30CD-A74A8F1BA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27B65-FFD9-404C-83AB-B4335E8DD3B5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085A43-C420-F6EB-CC8B-BF3A0F22D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528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D0BB0-B4AD-62E6-42B7-56BB17843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4E305248-2143-AB6B-EDA5-E496F6542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37319"/>
            <a:ext cx="10363200" cy="1554162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1F5B488-1FAE-3202-E50D-46F52103DCA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2362200"/>
            <a:ext cx="10058400" cy="35814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03FD461-E305-7888-E94C-D146B9092B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4"/>
          <a:stretch>
            <a:fillRect/>
          </a:stretch>
        </p:blipFill>
        <p:spPr>
          <a:xfrm>
            <a:off x="646881" y="228600"/>
            <a:ext cx="10898237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71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B17513E-E97C-FBAB-27B3-373CDBC323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541DDE-86D2-D80F-4C24-6F512497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breakdown structure.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093CC1-1C11-7F39-CC86-99CA893B6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5F8C-799F-4BD8-AADD-44005070082F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575FD-9E45-2FCB-5DA4-8948AA555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1E2B9F-E032-0128-8E16-F0DCA5E89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295400"/>
            <a:ext cx="9829800" cy="500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013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4197</TotalTime>
  <Words>720</Words>
  <Application>Microsoft Office PowerPoint</Application>
  <PresentationFormat>Widescreen</PresentationFormat>
  <Paragraphs>135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Wingdings</vt:lpstr>
      <vt:lpstr>Office Theme</vt:lpstr>
      <vt:lpstr>Hybrid AI-based Detection of fileless malware in IOMT Healthcare systems</vt:lpstr>
      <vt:lpstr>Team Members </vt:lpstr>
      <vt:lpstr>Introduction</vt:lpstr>
      <vt:lpstr>User and Stakeholders</vt:lpstr>
      <vt:lpstr>Existing solutions and limitations.</vt:lpstr>
      <vt:lpstr>Proposed Solution.</vt:lpstr>
      <vt:lpstr>PowerPoint Presentation</vt:lpstr>
      <vt:lpstr>Cross layer lateral movement correlation detection engine and XAI dashboard.</vt:lpstr>
      <vt:lpstr>Cross layer lateral movement correlation detection engine and XAI dashboard</vt:lpstr>
      <vt:lpstr>Cross layer lateral movement correlation detection engine and XAI dashboard</vt:lpstr>
      <vt:lpstr>Cross layer lateral movement correlation detection engine and XAI dashboard</vt:lpstr>
      <vt:lpstr>Cross layer lateral movement correlation detection engine and XAI dashboard</vt:lpstr>
      <vt:lpstr>Cross layer lateral movement correlation detection engine and XAI dashboard</vt:lpstr>
      <vt:lpstr>PowerPoint Presentation</vt:lpstr>
      <vt:lpstr>Commercialization Plan.</vt:lpstr>
      <vt:lpstr> </vt:lpstr>
      <vt:lpstr>Work breakdown structure.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Koliya Pulasinghe</dc:creator>
  <cp:lastModifiedBy>SHAKYA W A R it22210142</cp:lastModifiedBy>
  <cp:revision>7</cp:revision>
  <dcterms:created xsi:type="dcterms:W3CDTF">2025-08-25T09:34:25Z</dcterms:created>
  <dcterms:modified xsi:type="dcterms:W3CDTF">2026-03-15T08:06:01Z</dcterms:modified>
</cp:coreProperties>
</file>