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4" r:id="rId1"/>
  </p:sldMasterIdLst>
  <p:notesMasterIdLst>
    <p:notesMasterId r:id="rId11"/>
  </p:notesMasterIdLst>
  <p:handoutMasterIdLst>
    <p:handoutMasterId r:id="rId12"/>
  </p:handoutMasterIdLst>
  <p:sldIdLst>
    <p:sldId id="297" r:id="rId2"/>
    <p:sldId id="298" r:id="rId3"/>
    <p:sldId id="271" r:id="rId4"/>
    <p:sldId id="310" r:id="rId5"/>
    <p:sldId id="315" r:id="rId6"/>
    <p:sldId id="316" r:id="rId7"/>
    <p:sldId id="264" r:id="rId8"/>
    <p:sldId id="296" r:id="rId9"/>
    <p:sldId id="31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>
      <p:cViewPr varScale="1">
        <p:scale>
          <a:sx n="89" d="100"/>
          <a:sy n="89" d="100"/>
        </p:scale>
        <p:origin x="235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9" d="100"/>
          <a:sy n="69" d="100"/>
        </p:scale>
        <p:origin x="2568" y="3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BAAE38-79BE-4082-9A4D-2BEC47341C0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F15613-D24F-46B4-9010-BD7B318E3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0503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5BCF22-2D75-4779-9C8B-6270AA3FA919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0B8AC8-E212-48B2-9917-7448FC83D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590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89FAE-02C0-0D40-C163-7DA6345483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B521E7-116F-BA14-BF6D-555E2AC9E0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C26F56-3BB0-EB80-F10B-ED4AD00F6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smtClean="0"/>
              <a:t>8/31/2026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CBC89-FC04-B9AE-8EE7-AEC5DC96C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D1E2F1-0691-FBDC-3430-BB028B9D9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0772578"/>
      </p:ext>
    </p:extLst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D8234-3799-6501-1DC0-FCE71BDA8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93CD6-A2E0-5D9F-92E7-9024A0C3B6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1B335C-68A6-0E62-3DBA-7C919F8C7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smtClean="0"/>
              <a:t>8/31/2026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C2187E-DF64-1021-AF0A-4E33B783D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6CE12-1222-F75F-1393-1B8D7400B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718971"/>
      </p:ext>
    </p:extLst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CD019-9FEE-3A56-A7E0-115D91F8F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400826-2F0C-EE19-AF81-BEB683472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2D3AD1-5C8F-ACA7-6C1A-3CE182290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smtClean="0"/>
              <a:t>8/31/2026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6DC1C4-18DE-6D14-2568-98716B44B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58563-250C-31C9-A514-118EC6BEC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5DD575-E969-7CEA-EFC2-CEE3EF966E92}"/>
              </a:ext>
            </a:extLst>
          </p:cNvPr>
          <p:cNvSpPr/>
          <p:nvPr userDrawn="1"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ITXXXXXXXX</a:t>
            </a:r>
            <a:r>
              <a:rPr lang="en-US" sz="1800" dirty="0">
                <a:solidFill>
                  <a:schemeClr val="tx1"/>
                </a:solidFill>
              </a:rPr>
              <a:t>   |   &lt;</a:t>
            </a:r>
            <a:r>
              <a:rPr lang="en-US" sz="1800" b="1" dirty="0">
                <a:solidFill>
                  <a:schemeClr val="tx1"/>
                </a:solidFill>
              </a:rPr>
              <a:t>&lt;Student Name&gt;&gt; 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sz="1800" b="0" dirty="0">
                <a:solidFill>
                  <a:schemeClr val="tx1"/>
                </a:solidFill>
              </a:rPr>
              <a:t>&lt;&lt;Project ID&gt;&gt;</a:t>
            </a:r>
          </a:p>
        </p:txBody>
      </p:sp>
    </p:spTree>
    <p:extLst>
      <p:ext uri="{BB962C8B-B14F-4D97-AF65-F5344CB8AC3E}">
        <p14:creationId xmlns:p14="http://schemas.microsoft.com/office/powerpoint/2010/main" val="3558466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A3242-5767-F6C5-27D6-1B60FF90D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997FA-89B9-05EB-14B1-1FCE388DC9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A22DFD-C488-4130-12A1-CDC98BE523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4A8432-BF1A-48F0-ACEF-682D1F071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smtClean="0"/>
              <a:t>8/31/2026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DC474A-BCED-B4DC-6C92-D42CC8727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45C2E6-6C7E-B4F2-788A-368087D23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0001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E7F27-4CD9-334E-9CB5-F0DE1CBCF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85923-15AF-BDBD-FE20-909F2B7D1E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28FA48-5947-B794-EE7D-66FCD331F5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EC4244-F299-9105-ABA7-CDDAC73EE8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BC938B-7DD1-C3B2-F2E3-24419F6A8F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B56672-818E-6193-44DA-D82AFF268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smtClean="0"/>
              <a:t>8/31/2026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7C5C7B-A35F-D700-FDAF-1BBA7C742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88E618-F20D-7FA7-FDEA-663416F61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9335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F04D3-AF7C-1870-95A8-F92CE96DD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F3CA68-5934-7BE8-B577-94FDC3CFE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smtClean="0"/>
              <a:t>8/31/2026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3ED917-ED6C-7DA6-CBA8-A0C583766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45E2B4-C0B8-1300-25CA-9143A9874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2874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D92ECE-332B-FAD0-A426-941647319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smtClean="0"/>
              <a:t>8/31/2026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1B0768-C6B0-2BB6-3C0C-823750A21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CFE8B0-CB36-E6CA-8350-786807D68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二等辺三角形 9">
            <a:extLst>
              <a:ext uri="{FF2B5EF4-FFF2-40B4-BE49-F238E27FC236}">
                <a16:creationId xmlns:a16="http://schemas.microsoft.com/office/drawing/2014/main" id="{33544A65-6B0B-934F-0DDD-0FB7622A31BD}"/>
              </a:ext>
            </a:extLst>
          </p:cNvPr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6" name="二等辺三角形 10">
            <a:extLst>
              <a:ext uri="{FF2B5EF4-FFF2-40B4-BE49-F238E27FC236}">
                <a16:creationId xmlns:a16="http://schemas.microsoft.com/office/drawing/2014/main" id="{9216226A-AD9D-CDCC-8E6E-0692897A7BC0}"/>
              </a:ext>
            </a:extLst>
          </p:cNvPr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9D9FFA4-B708-EF64-EA50-483F8EF4EDCA}"/>
              </a:ext>
            </a:extLst>
          </p:cNvPr>
          <p:cNvSpPr txBox="1">
            <a:spLocks/>
          </p:cNvSpPr>
          <p:nvPr userDrawn="1"/>
        </p:nvSpPr>
        <p:spPr>
          <a:xfrm>
            <a:off x="11435142" y="6492875"/>
            <a:ext cx="6806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D6051F-EF20-4D26-A49B-A9D5F0B34CE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972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F2EBD-3084-02D3-2308-3F4EF8274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44D32-3AE8-0D20-EFF8-2FAF495E65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05D239-60E3-D5DB-360A-07A6F3FF7B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341330-AB97-65FA-A75B-A240B4B43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BBEA6-7C60-4B02-AE87-00D78D8422AF}" type="datetimeFigureOut">
              <a:rPr lang="en-US" smtClean="0"/>
              <a:t>8/31/2026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4D8858-6FC5-E53F-3A71-B337F5BA3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B14CD7-F354-25B0-278A-49FFC3C8A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二等辺三角形 11">
            <a:extLst>
              <a:ext uri="{FF2B5EF4-FFF2-40B4-BE49-F238E27FC236}">
                <a16:creationId xmlns:a16="http://schemas.microsoft.com/office/drawing/2014/main" id="{7A8184B5-6601-DD7D-4F97-D74B428B9061}"/>
              </a:ext>
            </a:extLst>
          </p:cNvPr>
          <p:cNvSpPr/>
          <p:nvPr userDrawn="1"/>
        </p:nvSpPr>
        <p:spPr>
          <a:xfrm>
            <a:off x="0" y="6406010"/>
            <a:ext cx="12192000" cy="452885"/>
          </a:xfrm>
          <a:prstGeom prst="triangle">
            <a:avLst>
              <a:gd name="adj" fmla="val 85448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9" name="二等辺三角形 9">
            <a:extLst>
              <a:ext uri="{FF2B5EF4-FFF2-40B4-BE49-F238E27FC236}">
                <a16:creationId xmlns:a16="http://schemas.microsoft.com/office/drawing/2014/main" id="{9CB921A4-BF74-BB51-7125-3BC61E76FC6F}"/>
              </a:ext>
            </a:extLst>
          </p:cNvPr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0" name="二等辺三角形 10">
            <a:extLst>
              <a:ext uri="{FF2B5EF4-FFF2-40B4-BE49-F238E27FC236}">
                <a16:creationId xmlns:a16="http://schemas.microsoft.com/office/drawing/2014/main" id="{5040542B-27A4-7A4F-1405-005682C5E913}"/>
              </a:ext>
            </a:extLst>
          </p:cNvPr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988038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00B2A-4660-2C8F-F716-598151F48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F89045-A248-EA6B-4D8F-61613B72E7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ECD13C-DBA4-05F8-7EA4-E97C33D143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B7D6EE-008F-62CF-F196-699110767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smtClean="0"/>
              <a:t>8/31/2026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8156C8-0470-C3C7-6845-51FCC1AB9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775EA8-E92A-FB14-077B-2BA71BE18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二等辺三角形 10">
            <a:extLst>
              <a:ext uri="{FF2B5EF4-FFF2-40B4-BE49-F238E27FC236}">
                <a16:creationId xmlns:a16="http://schemas.microsoft.com/office/drawing/2014/main" id="{6DF36DF1-F8BB-4E17-CA78-58C22E14A591}"/>
              </a:ext>
            </a:extLst>
          </p:cNvPr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3883047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CF616-2DFA-8BF5-2D9B-8F2BDE02C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42819E-7473-EFC3-7044-52F7256567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ECF43-E347-E948-6489-A40A893CB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smtClean="0"/>
              <a:t>8/31/2026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8820CA-22CD-BA9B-86BF-C064A163E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4B9674-4565-E9D1-53D1-E49E65EEB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二等辺三角形 10">
            <a:extLst>
              <a:ext uri="{FF2B5EF4-FFF2-40B4-BE49-F238E27FC236}">
                <a16:creationId xmlns:a16="http://schemas.microsoft.com/office/drawing/2014/main" id="{8E9A31FF-1813-4C54-46C6-FBCD86E8B0E8}"/>
              </a:ext>
            </a:extLst>
          </p:cNvPr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2486061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24E66A-7698-A6FC-F1B4-98D714CEF6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4856A2-4125-7460-2EF6-E390961CC0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A435D7-41A0-2D38-85FF-2B70070A7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smtClean="0"/>
              <a:t>8/31/2026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37AD5-0C21-C201-1027-C4FA3D0A0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983C7E-7E3E-18AB-5350-9B1EC6283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二等辺三角形 9">
            <a:extLst>
              <a:ext uri="{FF2B5EF4-FFF2-40B4-BE49-F238E27FC236}">
                <a16:creationId xmlns:a16="http://schemas.microsoft.com/office/drawing/2014/main" id="{DD14D8EE-7331-C374-9CE1-CA99EA8D0356}"/>
              </a:ext>
            </a:extLst>
          </p:cNvPr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8" name="二等辺三角形 10">
            <a:extLst>
              <a:ext uri="{FF2B5EF4-FFF2-40B4-BE49-F238E27FC236}">
                <a16:creationId xmlns:a16="http://schemas.microsoft.com/office/drawing/2014/main" id="{5251DC14-4D59-2132-5795-32629695A5E5}"/>
              </a:ext>
            </a:extLst>
          </p:cNvPr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293069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al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20238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9CB220-8C4B-74FF-29B5-8281EE646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E2F65-2F48-231B-8919-FBB41E3C20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C96206-4EF1-CF58-C78F-0702F123B4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624D31-43A5-475A-80CF-332C9F6DCF35}" type="datetimeFigureOut">
              <a:rPr lang="en-US" smtClean="0"/>
              <a:t>8/31/2026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48A06-4624-418B-3217-C7C054B275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2F47BB-17C0-5198-A35E-1C7028099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E17FACA-B3AF-C5C3-FDC5-419126C0046B}"/>
              </a:ext>
            </a:extLst>
          </p:cNvPr>
          <p:cNvSpPr txBox="1">
            <a:spLocks/>
          </p:cNvSpPr>
          <p:nvPr userDrawn="1"/>
        </p:nvSpPr>
        <p:spPr>
          <a:xfrm>
            <a:off x="11435142" y="6492875"/>
            <a:ext cx="6806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D6051F-EF20-4D26-A49B-A9D5F0B34CE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ADEA0655-A806-CBD9-5368-F6C2885617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65580B0-5C06-638F-AA92-92EE678A04C3}"/>
              </a:ext>
            </a:extLst>
          </p:cNvPr>
          <p:cNvSpPr txBox="1"/>
          <p:nvPr userDrawn="1"/>
        </p:nvSpPr>
        <p:spPr>
          <a:xfrm>
            <a:off x="10287000" y="6536937"/>
            <a:ext cx="1066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98C4007C-554A-4B16-A31C-089CB53EF86F}" type="datetime1">
              <a:rPr lang="en-US" sz="1200" b="1" smtClean="0"/>
              <a:t>8/31/2026</a:t>
            </a:fld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4272635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662" r:id="rId12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0FF16190-562A-1C45-8049-D2E65B2984F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E70B645-3AA4-2E3D-571F-786B8D4B6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3050"/>
            <a:ext cx="4419599" cy="2393950"/>
          </a:xfrm>
        </p:spPr>
        <p:txBody>
          <a:bodyPr anchor="b">
            <a:normAutofit fontScale="90000"/>
          </a:bodyPr>
          <a:lstStyle/>
          <a:p>
            <a:r>
              <a:rPr lang="en-US" sz="4000" b="1" dirty="0"/>
              <a:t>Hybrid AI-based Detection of fileless malware in IOMT Healthcare systems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D5A9AC-835B-6C6C-5086-297B213B4C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3581400"/>
            <a:ext cx="4011084" cy="2544764"/>
          </a:xfrm>
        </p:spPr>
        <p:txBody>
          <a:bodyPr>
            <a:normAutofit/>
          </a:bodyPr>
          <a:lstStyle/>
          <a:p>
            <a:r>
              <a:rPr lang="en-US" sz="2000" dirty="0"/>
              <a:t>R26-CS-006</a:t>
            </a:r>
          </a:p>
          <a:p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122D3A6-8366-9649-FDDE-0C4768056A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62" r="17716" b="1"/>
          <a:stretch>
            <a:fillRect/>
          </a:stretch>
        </p:blipFill>
        <p:spPr>
          <a:xfrm>
            <a:off x="5376333" y="0"/>
            <a:ext cx="6815667" cy="612616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71518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2D82C5CB-C4B0-1B99-A87F-3C7A1CC4FDD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064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6E67BA-C0EA-3B0A-9B8B-148DF9DD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66" y="-2875"/>
            <a:ext cx="9067799" cy="1130300"/>
          </a:xfrm>
        </p:spPr>
        <p:txBody>
          <a:bodyPr>
            <a:normAutofit/>
          </a:bodyPr>
          <a:lstStyle/>
          <a:p>
            <a:r>
              <a:rPr lang="en-US" sz="5400" dirty="0"/>
              <a:t>Team Members 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A60F69BE-71F4-B7BB-6E7D-1E1B7FD2CE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8490389"/>
              </p:ext>
            </p:extLst>
          </p:nvPr>
        </p:nvGraphicFramePr>
        <p:xfrm>
          <a:off x="609600" y="2679940"/>
          <a:ext cx="6815136" cy="25879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7568">
                  <a:extLst>
                    <a:ext uri="{9D8B030D-6E8A-4147-A177-3AD203B41FA5}">
                      <a16:colId xmlns:a16="http://schemas.microsoft.com/office/drawing/2014/main" val="34195208"/>
                    </a:ext>
                  </a:extLst>
                </a:gridCol>
                <a:gridCol w="3407568">
                  <a:extLst>
                    <a:ext uri="{9D8B030D-6E8A-4147-A177-3AD203B41FA5}">
                      <a16:colId xmlns:a16="http://schemas.microsoft.com/office/drawing/2014/main" val="1176105766"/>
                    </a:ext>
                  </a:extLst>
                </a:gridCol>
              </a:tblGrid>
              <a:tr h="517585">
                <a:tc>
                  <a:txBody>
                    <a:bodyPr/>
                    <a:lstStyle/>
                    <a:p>
                      <a:r>
                        <a:rPr lang="en-US" dirty="0"/>
                        <a:t>Student Nama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ID Number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8917692"/>
                  </a:ext>
                </a:extLst>
              </a:tr>
              <a:tr h="517585">
                <a:tc>
                  <a:txBody>
                    <a:bodyPr/>
                    <a:lstStyle/>
                    <a:p>
                      <a:r>
                        <a:rPr lang="en-US" dirty="0"/>
                        <a:t>Chathuranga L.A.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IT22108272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2596473"/>
                  </a:ext>
                </a:extLst>
              </a:tr>
              <a:tr h="517585">
                <a:tc>
                  <a:txBody>
                    <a:bodyPr/>
                    <a:lstStyle/>
                    <a:p>
                      <a:r>
                        <a:rPr lang="pt-BR" dirty="0"/>
                        <a:t>Fernando M.S. V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IT22080530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6623837"/>
                  </a:ext>
                </a:extLst>
              </a:tr>
              <a:tr h="517585">
                <a:tc>
                  <a:txBody>
                    <a:bodyPr/>
                    <a:lstStyle/>
                    <a:p>
                      <a:r>
                        <a:rPr lang="en-US" dirty="0" err="1"/>
                        <a:t>Pagodaarachchi</a:t>
                      </a:r>
                      <a:r>
                        <a:rPr lang="en-US" dirty="0"/>
                        <a:t> R.T.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IT22135070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8259927"/>
                  </a:ext>
                </a:extLst>
              </a:tr>
              <a:tr h="517585">
                <a:tc>
                  <a:txBody>
                    <a:bodyPr/>
                    <a:lstStyle/>
                    <a:p>
                      <a:r>
                        <a:rPr lang="en-US" dirty="0"/>
                        <a:t>Shakya W.A.R.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IT22210142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7609212"/>
                  </a:ext>
                </a:extLst>
              </a:tr>
            </a:tbl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14C75B-376A-483D-3E4B-3840AB6C13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0" y="1435101"/>
            <a:ext cx="11277599" cy="1231899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b="1" dirty="0"/>
              <a:t>Supervisor – Mr. </a:t>
            </a:r>
            <a:r>
              <a:rPr lang="en-US" sz="2400" b="1"/>
              <a:t>Knishka </a:t>
            </a:r>
            <a:r>
              <a:rPr lang="en-US" sz="2400" b="1" dirty="0"/>
              <a:t>Yapa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b="1" dirty="0"/>
              <a:t>Co-Supervisor – Mr. </a:t>
            </a:r>
            <a:r>
              <a:rPr lang="en-US" sz="2400" b="1" dirty="0" err="1"/>
              <a:t>Dinith</a:t>
            </a:r>
            <a:r>
              <a:rPr lang="en-US" sz="2400" b="1" dirty="0"/>
              <a:t> Primal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696DA2E-E3B9-56AA-1E6C-D1AD216085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4736" y="1134614"/>
            <a:ext cx="4767264" cy="4961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541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C8BDE96C-64B9-31B7-AD20-61A2A8FF1F7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506" y="12940"/>
            <a:ext cx="12192000" cy="6858000"/>
          </a:xfrm>
          <a:prstGeom prst="rect">
            <a:avLst/>
          </a:prstGeom>
        </p:spPr>
      </p:pic>
      <p:sp>
        <p:nvSpPr>
          <p:cNvPr id="20" name="Title 5">
            <a:extLst>
              <a:ext uri="{FF2B5EF4-FFF2-40B4-BE49-F238E27FC236}">
                <a16:creationId xmlns:a16="http://schemas.microsoft.com/office/drawing/2014/main" id="{1966C6E1-EB11-795C-C0B8-AD6FB5D29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008" y="152400"/>
            <a:ext cx="10515600" cy="1325563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3600" dirty="0">
                <a:highlight>
                  <a:srgbClr val="FFFF00"/>
                </a:highlight>
              </a:rPr>
              <a:t>Hybrid AI-based Detection of fileless malware in IOMT Healthcare systems </a:t>
            </a:r>
            <a:br>
              <a:rPr lang="en-US" dirty="0">
                <a:highlight>
                  <a:srgbClr val="FFFF00"/>
                </a:highlight>
              </a:rPr>
            </a:b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27506E47-161A-AF4E-7C08-3F46F06353AB}"/>
              </a:ext>
            </a:extLst>
          </p:cNvPr>
          <p:cNvSpPr txBox="1">
            <a:spLocks/>
          </p:cNvSpPr>
          <p:nvPr/>
        </p:nvSpPr>
        <p:spPr>
          <a:xfrm>
            <a:off x="381000" y="1371600"/>
            <a:ext cx="5181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u="sng" dirty="0"/>
              <a:t>Main research Problem</a:t>
            </a:r>
            <a:r>
              <a:rPr lang="en-US" sz="1800" dirty="0"/>
              <a:t> </a:t>
            </a:r>
          </a:p>
          <a:p>
            <a:r>
              <a:rPr lang="en-US" sz="1800" dirty="0"/>
              <a:t>The existing solution for the IOMT security cannot effectively detect fileless malware attacks and lateral movement. </a:t>
            </a:r>
          </a:p>
          <a:p>
            <a:r>
              <a:rPr lang="en-US" sz="1800" dirty="0"/>
              <a:t>These attacks abuse the legitimate process to bypass the security of the IOMT environment.</a:t>
            </a:r>
          </a:p>
          <a:p>
            <a:pPr marL="0" indent="0">
              <a:buNone/>
            </a:pPr>
            <a:r>
              <a:rPr lang="en-US" sz="1800" b="1" u="sng" dirty="0"/>
              <a:t>Problem Impact</a:t>
            </a:r>
          </a:p>
          <a:p>
            <a:r>
              <a:rPr lang="en-US" sz="1800" dirty="0"/>
              <a:t>Patient safety risk.</a:t>
            </a:r>
          </a:p>
          <a:p>
            <a:r>
              <a:rPr lang="en-US" sz="1800" dirty="0"/>
              <a:t>Healthcare service disruptions.</a:t>
            </a:r>
          </a:p>
          <a:p>
            <a:r>
              <a:rPr lang="en-US" sz="1800" dirty="0"/>
              <a:t>Sensitive patient data exposure.</a:t>
            </a:r>
          </a:p>
          <a:p>
            <a:r>
              <a:rPr lang="en-US" sz="1800" dirty="0"/>
              <a:t>Attacks would not be detected.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E4F585D-E114-9CB4-513A-F19FB4725B3D}"/>
              </a:ext>
            </a:extLst>
          </p:cNvPr>
          <p:cNvSpPr txBox="1"/>
          <p:nvPr/>
        </p:nvSpPr>
        <p:spPr>
          <a:xfrm>
            <a:off x="6096000" y="1342845"/>
            <a:ext cx="616357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u="sng" dirty="0"/>
              <a:t>Users that benefits from our solution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Hospital and healthcare organizations.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SOC Analyst and cyber security teams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Patients.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Medical device manufactures.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Healthcare regulator bodies.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F474E41-B2C7-90E6-C86F-726DDB78AD23}"/>
              </a:ext>
            </a:extLst>
          </p:cNvPr>
          <p:cNvSpPr txBox="1"/>
          <p:nvPr/>
        </p:nvSpPr>
        <p:spPr>
          <a:xfrm>
            <a:off x="5991047" y="3441940"/>
            <a:ext cx="61635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u="sng" dirty="0"/>
              <a:t>Targeted Users.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Soc Analyst.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Doctors.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5102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17D05-ED30-5280-4C7F-B851BBF4A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96C385E-DF24-D09A-3D8C-2CDE02E105F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6201A0C8-9CA8-2A80-E70B-898899EC90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A7EE13E-41DD-483F-AE3F-96BF3061585B}" type="datetime1">
              <a:rPr lang="en-US" smtClean="0"/>
              <a:pPr>
                <a:spcAft>
                  <a:spcPts val="600"/>
                </a:spcAft>
              </a:pPr>
              <a:t>8/31/2026</a:t>
            </a:fld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CB5BFC7-01C7-FAAF-ED28-AED2A514D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FAB73BC-B049-4115-A692-8D63A059BFB8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12" name="Title 4">
            <a:extLst>
              <a:ext uri="{FF2B5EF4-FFF2-40B4-BE49-F238E27FC236}">
                <a16:creationId xmlns:a16="http://schemas.microsoft.com/office/drawing/2014/main" id="{43F0B3BC-9EB0-D444-7648-E74EA1540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6200" y="1679276"/>
            <a:ext cx="10363200" cy="755426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latin typeface="+mn-lt"/>
                <a:cs typeface="Times New Roman" panose="02020603050405020304" pitchFamily="18" charset="0"/>
              </a:rPr>
              <a:t>IT22108272		CHATHURANGA L A S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10BC41E6-826D-242E-323D-6136DCA73A69}"/>
              </a:ext>
            </a:extLst>
          </p:cNvPr>
          <p:cNvSpPr txBox="1">
            <a:spLocks/>
          </p:cNvSpPr>
          <p:nvPr/>
        </p:nvSpPr>
        <p:spPr>
          <a:xfrm>
            <a:off x="732453" y="2466670"/>
            <a:ext cx="10363200" cy="23084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Combines DICOM network anomaly detection with DICOM image integrity verification to generate a unified security risk level, SOC alert, and doctor decision.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945E544-3E86-01E3-0F52-37EDB4920555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IT22108272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dirty="0">
                <a:solidFill>
                  <a:schemeClr val="tx1"/>
                </a:solidFill>
              </a:rPr>
              <a:t>CHATHURANGA L A S</a:t>
            </a:r>
            <a:r>
              <a:rPr lang="en-US" sz="1800" b="1" dirty="0">
                <a:solidFill>
                  <a:schemeClr val="tx1"/>
                </a:solidFill>
              </a:rPr>
              <a:t> 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dirty="0">
                <a:solidFill>
                  <a:schemeClr val="tx1"/>
                </a:solidFill>
              </a:rPr>
              <a:t>R26-CS-006</a:t>
            </a:r>
            <a:endParaRPr lang="en-US" sz="1800" b="0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65B55AA-E603-7BAF-E6D7-52328CD248A0}"/>
              </a:ext>
            </a:extLst>
          </p:cNvPr>
          <p:cNvSpPr txBox="1"/>
          <p:nvPr/>
        </p:nvSpPr>
        <p:spPr>
          <a:xfrm>
            <a:off x="732453" y="517481"/>
            <a:ext cx="8229600" cy="954107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chemeClr val="accent1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DICOM Medical Imaging Network Anomaly 				Detection 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C224007-A547-95D9-B4CA-A190019B343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3342" y="51520"/>
            <a:ext cx="2286001" cy="2286001"/>
          </a:xfrm>
          <a:prstGeom prst="rect">
            <a:avLst/>
          </a:prstGeom>
        </p:spPr>
      </p:pic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A8EB608E-9D24-5633-F0E0-6EEF5A1D6CF4}"/>
              </a:ext>
            </a:extLst>
          </p:cNvPr>
          <p:cNvSpPr txBox="1">
            <a:spLocks/>
          </p:cNvSpPr>
          <p:nvPr/>
        </p:nvSpPr>
        <p:spPr>
          <a:xfrm>
            <a:off x="732453" y="3344102"/>
            <a:ext cx="4648200" cy="20853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b="1" dirty="0"/>
              <a:t>PP01 Completed Work.</a:t>
            </a:r>
          </a:p>
          <a:p>
            <a:pPr lvl="0"/>
            <a:r>
              <a:rPr lang="en-US" sz="1500" dirty="0"/>
              <a:t>Identified the DICOM/PACS security problem </a:t>
            </a:r>
          </a:p>
          <a:p>
            <a:pPr lvl="0"/>
            <a:r>
              <a:rPr lang="en-US" sz="1500" dirty="0"/>
              <a:t>Selected the </a:t>
            </a:r>
            <a:r>
              <a:rPr lang="en-US" sz="1500" dirty="0" err="1"/>
              <a:t>CICIoMT</a:t>
            </a:r>
            <a:r>
              <a:rPr lang="en-US" sz="1500" dirty="0"/>
              <a:t> dataset </a:t>
            </a:r>
          </a:p>
          <a:p>
            <a:pPr lvl="0"/>
            <a:r>
              <a:rPr lang="en-US" sz="1500" dirty="0"/>
              <a:t>Identified relevant network traffic features </a:t>
            </a:r>
          </a:p>
          <a:p>
            <a:pPr lvl="0"/>
            <a:r>
              <a:rPr lang="en-US" sz="1500" dirty="0"/>
              <a:t>Developed the initial Random Forest anomaly detection model </a:t>
            </a:r>
          </a:p>
          <a:p>
            <a:pPr lvl="0"/>
            <a:r>
              <a:rPr lang="en-US" sz="1500" dirty="0"/>
              <a:t>Designed the component architecture and workflow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6E7B5610-DEDB-C3C9-81AD-8B43D78B5E22}"/>
              </a:ext>
            </a:extLst>
          </p:cNvPr>
          <p:cNvSpPr txBox="1">
            <a:spLocks/>
          </p:cNvSpPr>
          <p:nvPr/>
        </p:nvSpPr>
        <p:spPr>
          <a:xfrm>
            <a:off x="5380653" y="3345460"/>
            <a:ext cx="5715000" cy="20853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b="1" dirty="0"/>
              <a:t>Current Progress.</a:t>
            </a:r>
          </a:p>
          <a:p>
            <a:pPr lvl="0"/>
            <a:r>
              <a:rPr lang="en-US" sz="1500" dirty="0"/>
              <a:t>Completed Normal/Abnormal network traffic detection </a:t>
            </a:r>
          </a:p>
          <a:p>
            <a:pPr lvl="0"/>
            <a:r>
              <a:rPr lang="en-US" sz="1500" dirty="0"/>
              <a:t>Integrated </a:t>
            </a:r>
            <a:r>
              <a:rPr lang="en-US" sz="1500" dirty="0" err="1"/>
              <a:t>Orthanc</a:t>
            </a:r>
            <a:r>
              <a:rPr lang="en-US" sz="1500" dirty="0"/>
              <a:t> + Wireshark for DICOM/PACS traffic validation </a:t>
            </a:r>
          </a:p>
          <a:p>
            <a:pPr lvl="0"/>
            <a:r>
              <a:rPr lang="en-US" sz="1500" dirty="0"/>
              <a:t>Implemented SHA-256 DICOM image integrity verification </a:t>
            </a:r>
          </a:p>
          <a:p>
            <a:pPr lvl="0"/>
            <a:r>
              <a:rPr lang="en-US" sz="1500" dirty="0"/>
              <a:t>Developed SOC Dashboard + Doctor Portal </a:t>
            </a:r>
          </a:p>
          <a:p>
            <a:pPr lvl="0"/>
            <a:r>
              <a:rPr lang="en-US" sz="1500" dirty="0"/>
              <a:t>Implemented dynamic threat scoring and SOC alerts </a:t>
            </a:r>
          </a:p>
          <a:p>
            <a:pPr lvl="0"/>
            <a:r>
              <a:rPr lang="en-US" sz="1500" dirty="0"/>
              <a:t>Validated the system using 4 security scenarios </a:t>
            </a:r>
          </a:p>
          <a:p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286260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AD6AA-BDF0-AA6A-ADC9-71CB50B8C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5F88E346-4972-379F-6717-5F3B91007F5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EC69F1E9-EBA2-A23E-00C2-BCFFDB7CDE98}"/>
              </a:ext>
            </a:extLst>
          </p:cNvPr>
          <p:cNvSpPr txBox="1">
            <a:spLocks/>
          </p:cNvSpPr>
          <p:nvPr/>
        </p:nvSpPr>
        <p:spPr>
          <a:xfrm>
            <a:off x="963084" y="2133600"/>
            <a:ext cx="10363200" cy="36575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AC7108F-E322-4285-AA79-18D0AD783305}"/>
              </a:ext>
            </a:extLst>
          </p:cNvPr>
          <p:cNvSpPr txBox="1">
            <a:spLocks/>
          </p:cNvSpPr>
          <p:nvPr/>
        </p:nvSpPr>
        <p:spPr>
          <a:xfrm>
            <a:off x="762000" y="1898576"/>
            <a:ext cx="7315200" cy="5398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/>
              <a:t>IT22135070		Fernando M.S.V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D10ED2F-59B0-4FD9-B839-16BC24E03068}"/>
              </a:ext>
            </a:extLst>
          </p:cNvPr>
          <p:cNvSpPr txBox="1">
            <a:spLocks/>
          </p:cNvSpPr>
          <p:nvPr/>
        </p:nvSpPr>
        <p:spPr>
          <a:xfrm>
            <a:off x="533400" y="2622543"/>
            <a:ext cx="10363200" cy="14776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Power shell based file less malware detection</a:t>
            </a:r>
          </a:p>
          <a:p>
            <a:r>
              <a:rPr lang="en-US" sz="2000" dirty="0"/>
              <a:t>Traditional antivirus mainly looks for malicious files. But fileless malware may execute directly through PowerShell and memory without dropping a normal malware file. Therefore, it can be difficult to detect using traditional signature-based techniques.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F09C2A-B10D-4EAB-8E13-2FD57EF3EC7A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IT22080530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dirty="0">
                <a:solidFill>
                  <a:schemeClr val="tx1"/>
                </a:solidFill>
              </a:rPr>
              <a:t>Fernando M.S.V</a:t>
            </a:r>
            <a:r>
              <a:rPr lang="en-US" sz="1800" b="1" dirty="0">
                <a:solidFill>
                  <a:schemeClr val="tx1"/>
                </a:solidFill>
              </a:rPr>
              <a:t>  </a:t>
            </a:r>
            <a:r>
              <a:rPr lang="en-US" sz="1800" dirty="0">
                <a:solidFill>
                  <a:schemeClr val="tx1"/>
                </a:solidFill>
              </a:rPr>
              <a:t>| </a:t>
            </a:r>
            <a:r>
              <a:rPr lang="en-US" dirty="0">
                <a:solidFill>
                  <a:schemeClr val="tx1"/>
                </a:solidFill>
              </a:rPr>
              <a:t>R26-CS-006</a:t>
            </a:r>
            <a:endParaRPr lang="en-US" sz="1800" b="0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51AC4A-770A-4275-B165-F37E986DBBE0}"/>
              </a:ext>
            </a:extLst>
          </p:cNvPr>
          <p:cNvSpPr txBox="1"/>
          <p:nvPr/>
        </p:nvSpPr>
        <p:spPr>
          <a:xfrm>
            <a:off x="1790700" y="472235"/>
            <a:ext cx="6019800" cy="1077218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b="1" u="sng" dirty="0">
                <a:solidFill>
                  <a:schemeClr val="accent1"/>
                </a:solidFill>
              </a:rPr>
              <a:t>Power shell based file less malware detection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0A1EA8-BDAE-46F5-9F02-3D933312F80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222"/>
          <a:stretch/>
        </p:blipFill>
        <p:spPr>
          <a:xfrm>
            <a:off x="9601200" y="271632"/>
            <a:ext cx="2266950" cy="2350911"/>
          </a:xfrm>
          <a:prstGeom prst="rect">
            <a:avLst/>
          </a:prstGeom>
        </p:spPr>
      </p:pic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8E2F6335-6935-4E11-BA11-1C2892F44204}"/>
              </a:ext>
            </a:extLst>
          </p:cNvPr>
          <p:cNvSpPr txBox="1">
            <a:spLocks/>
          </p:cNvSpPr>
          <p:nvPr/>
        </p:nvSpPr>
        <p:spPr>
          <a:xfrm>
            <a:off x="1037439" y="4194745"/>
            <a:ext cx="4648200" cy="20853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 dirty="0"/>
              <a:t>PP01 – Completed Work</a:t>
            </a:r>
          </a:p>
          <a:p>
            <a:r>
              <a:rPr lang="en-US" sz="1500" dirty="0"/>
              <a:t>Identified the research problem and gap</a:t>
            </a:r>
          </a:p>
          <a:p>
            <a:r>
              <a:rPr lang="en-US" sz="1500" dirty="0"/>
              <a:t>Selected PowerShell-based fileless malware as the main threat</a:t>
            </a:r>
          </a:p>
          <a:p>
            <a:r>
              <a:rPr lang="en-US" sz="1500" dirty="0"/>
              <a:t>Identified suitable datasets</a:t>
            </a:r>
          </a:p>
          <a:p>
            <a:r>
              <a:rPr lang="en-US" sz="1500" dirty="0"/>
              <a:t>Planned the ML/DL-based detection approach</a:t>
            </a:r>
          </a:p>
          <a:p>
            <a:r>
              <a:rPr lang="en-US" sz="1500" dirty="0"/>
              <a:t>Created the final dataset using existing malicious + collected benign data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5CB53052-8FE9-4DB7-996E-539293EDE694}"/>
              </a:ext>
            </a:extLst>
          </p:cNvPr>
          <p:cNvSpPr txBox="1">
            <a:spLocks/>
          </p:cNvSpPr>
          <p:nvPr/>
        </p:nvSpPr>
        <p:spPr>
          <a:xfrm>
            <a:off x="5759994" y="4194613"/>
            <a:ext cx="4648200" cy="20853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 dirty="0"/>
              <a:t>Current Progress </a:t>
            </a:r>
          </a:p>
          <a:p>
            <a:r>
              <a:rPr lang="en-US" sz="1500" dirty="0"/>
              <a:t>Trained and evaluated </a:t>
            </a:r>
            <a:r>
              <a:rPr lang="en-US" sz="1500" dirty="0" err="1"/>
              <a:t>XGBoost</a:t>
            </a:r>
            <a:r>
              <a:rPr lang="en-US" sz="1500" dirty="0"/>
              <a:t> &amp; LSTM models</a:t>
            </a:r>
          </a:p>
          <a:p>
            <a:r>
              <a:rPr lang="en-US" sz="1500" dirty="0"/>
              <a:t>Developed the Behavioral Analysis Engine</a:t>
            </a:r>
          </a:p>
          <a:p>
            <a:r>
              <a:rPr lang="en-US" sz="1500" dirty="0"/>
              <a:t>Implemented near-real-time monitoring</a:t>
            </a:r>
          </a:p>
          <a:p>
            <a:r>
              <a:rPr lang="en-US" sz="1500" dirty="0"/>
              <a:t>Developed the </a:t>
            </a:r>
            <a:r>
              <a:rPr lang="en-US" sz="1500" dirty="0" err="1"/>
              <a:t>FastAPI</a:t>
            </a:r>
            <a:r>
              <a:rPr lang="en-US" sz="1500" dirty="0"/>
              <a:t> backend</a:t>
            </a:r>
          </a:p>
          <a:p>
            <a:r>
              <a:rPr lang="en-US" sz="1500" dirty="0"/>
              <a:t>Integrated the </a:t>
            </a:r>
            <a:r>
              <a:rPr lang="en-US" sz="1500" dirty="0" err="1"/>
              <a:t>Streamlit</a:t>
            </a:r>
            <a:r>
              <a:rPr lang="en-US" sz="1500" dirty="0"/>
              <a:t> Dashboard</a:t>
            </a:r>
          </a:p>
        </p:txBody>
      </p:sp>
    </p:spTree>
    <p:extLst>
      <p:ext uri="{BB962C8B-B14F-4D97-AF65-F5344CB8AC3E}">
        <p14:creationId xmlns:p14="http://schemas.microsoft.com/office/powerpoint/2010/main" val="3879482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B6633-8EA0-5ED0-AE2E-0E39628AB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433F740-C753-632E-FA8F-2FFF32A6FEF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FB98E66-DBD5-4B29-AC68-A58A70C64231}"/>
              </a:ext>
            </a:extLst>
          </p:cNvPr>
          <p:cNvSpPr/>
          <p:nvPr/>
        </p:nvSpPr>
        <p:spPr>
          <a:xfrm>
            <a:off x="2632435" y="6465981"/>
            <a:ext cx="6816365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solidFill>
                  <a:schemeClr val="tx1"/>
                </a:solidFill>
              </a:rPr>
              <a:t>IT22135070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b="1" dirty="0" err="1">
                <a:solidFill>
                  <a:schemeClr val="tx1"/>
                </a:solidFill>
              </a:rPr>
              <a:t>Pagodaarachchi</a:t>
            </a:r>
            <a:r>
              <a:rPr lang="en-US" b="1" dirty="0">
                <a:solidFill>
                  <a:schemeClr val="tx1"/>
                </a:solidFill>
              </a:rPr>
              <a:t> R. T.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dirty="0">
                <a:solidFill>
                  <a:schemeClr val="tx1"/>
                </a:solidFill>
              </a:rPr>
              <a:t>R26-CS-006</a:t>
            </a:r>
            <a:endParaRPr lang="en-US" sz="1800" b="0" dirty="0">
              <a:solidFill>
                <a:schemeClr val="tx1"/>
              </a:solidFill>
            </a:endParaRPr>
          </a:p>
        </p:txBody>
      </p:sp>
      <p:sp>
        <p:nvSpPr>
          <p:cNvPr id="4" name="TextBox 10">
            <a:extLst>
              <a:ext uri="{FF2B5EF4-FFF2-40B4-BE49-F238E27FC236}">
                <a16:creationId xmlns:a16="http://schemas.microsoft.com/office/drawing/2014/main" id="{E82366E1-D035-2240-384C-F2EA1E745EC3}"/>
              </a:ext>
            </a:extLst>
          </p:cNvPr>
          <p:cNvSpPr txBox="1"/>
          <p:nvPr/>
        </p:nvSpPr>
        <p:spPr>
          <a:xfrm>
            <a:off x="2209800" y="905234"/>
            <a:ext cx="66667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chemeClr val="tx1"/>
                </a:solidFill>
              </a:rPr>
              <a:t>IT22135070 | PAGODAARACHCHI R. T.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11" name="TextBox 13">
            <a:extLst>
              <a:ext uri="{FF2B5EF4-FFF2-40B4-BE49-F238E27FC236}">
                <a16:creationId xmlns:a16="http://schemas.microsoft.com/office/drawing/2014/main" id="{B289C66D-8A17-6933-F190-200B49FE8E8E}"/>
              </a:ext>
            </a:extLst>
          </p:cNvPr>
          <p:cNvSpPr txBox="1"/>
          <p:nvPr/>
        </p:nvSpPr>
        <p:spPr>
          <a:xfrm>
            <a:off x="647700" y="345996"/>
            <a:ext cx="8839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b="1" u="sng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Predictive IoMT Threat Forecasting Engine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5B881C6-7199-5F99-D98E-8A859DCECEE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99" t="3333" r="25000" b="54444"/>
          <a:stretch>
            <a:fillRect/>
          </a:stretch>
        </p:blipFill>
        <p:spPr>
          <a:xfrm>
            <a:off x="9846845" y="205665"/>
            <a:ext cx="1985210" cy="2286000"/>
          </a:xfrm>
          <a:prstGeom prst="rect">
            <a:avLst/>
          </a:prstGeom>
        </p:spPr>
      </p:pic>
      <p:sp>
        <p:nvSpPr>
          <p:cNvPr id="16" name="TextBox 7">
            <a:extLst>
              <a:ext uri="{FF2B5EF4-FFF2-40B4-BE49-F238E27FC236}">
                <a16:creationId xmlns:a16="http://schemas.microsoft.com/office/drawing/2014/main" id="{CB7FBC7B-A575-3B23-89D3-73BD6AE23165}"/>
              </a:ext>
            </a:extLst>
          </p:cNvPr>
          <p:cNvSpPr txBox="1"/>
          <p:nvPr/>
        </p:nvSpPr>
        <p:spPr>
          <a:xfrm>
            <a:off x="228599" y="2755664"/>
            <a:ext cx="4572000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1700" b="1" dirty="0"/>
              <a:t>PP 01 Completed work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700" dirty="0"/>
              <a:t>Developed initial Host and Network ML models </a:t>
            </a:r>
          </a:p>
          <a:p>
            <a:pPr lvl="0"/>
            <a:endParaRPr lang="en-US" sz="17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700" dirty="0"/>
              <a:t>Established the Late Fusion architecture </a:t>
            </a:r>
          </a:p>
          <a:p>
            <a:pPr lvl="0"/>
            <a:endParaRPr lang="en-US" sz="17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700" dirty="0"/>
              <a:t>Addressed dataset suitability by avoiding direct raw-data merging</a:t>
            </a:r>
          </a:p>
          <a:p>
            <a:pPr lvl="0"/>
            <a:endParaRPr lang="en-US" sz="17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700" dirty="0"/>
              <a:t>Created a UI of the Dashboard.</a:t>
            </a:r>
          </a:p>
          <a:p>
            <a:endParaRPr lang="en-US" sz="1700" dirty="0"/>
          </a:p>
        </p:txBody>
      </p:sp>
      <p:sp>
        <p:nvSpPr>
          <p:cNvPr id="17" name="TextBox 4">
            <a:extLst>
              <a:ext uri="{FF2B5EF4-FFF2-40B4-BE49-F238E27FC236}">
                <a16:creationId xmlns:a16="http://schemas.microsoft.com/office/drawing/2014/main" id="{4FAF199C-7F6A-0DE5-40CD-F63E1E5EADF0}"/>
              </a:ext>
            </a:extLst>
          </p:cNvPr>
          <p:cNvSpPr txBox="1"/>
          <p:nvPr/>
        </p:nvSpPr>
        <p:spPr>
          <a:xfrm>
            <a:off x="5614486" y="2828696"/>
            <a:ext cx="5763627" cy="349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1700" b="1" dirty="0"/>
              <a:t>Current Progress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700" dirty="0"/>
              <a:t>Completed Host RF + Network RF → Hybrid Risk pipeline</a:t>
            </a:r>
          </a:p>
          <a:p>
            <a:pPr lvl="0"/>
            <a:r>
              <a:rPr lang="en-US" sz="17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700" dirty="0"/>
              <a:t>Developed 24-hour risk projection</a:t>
            </a:r>
          </a:p>
          <a:p>
            <a:pPr lvl="0"/>
            <a:endParaRPr lang="en-US" sz="17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700" dirty="0"/>
              <a:t>Built Flask API + interactive forecasting dashboard</a:t>
            </a:r>
          </a:p>
          <a:p>
            <a:pPr lvl="0"/>
            <a:endParaRPr lang="en-US" sz="17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700" dirty="0"/>
              <a:t>Added Early Warning, Threat Behaviors, IoMT Device Risk &amp; Threat Spread</a:t>
            </a:r>
          </a:p>
          <a:p>
            <a:pPr lvl="0"/>
            <a:endParaRPr lang="en-US" sz="17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700" dirty="0"/>
              <a:t>Added automated containment + Security Action History</a:t>
            </a:r>
          </a:p>
          <a:p>
            <a:endParaRPr lang="en-US" sz="1700" dirty="0"/>
          </a:p>
        </p:txBody>
      </p:sp>
      <p:sp>
        <p:nvSpPr>
          <p:cNvPr id="18" name="TextBox 5">
            <a:extLst>
              <a:ext uri="{FF2B5EF4-FFF2-40B4-BE49-F238E27FC236}">
                <a16:creationId xmlns:a16="http://schemas.microsoft.com/office/drawing/2014/main" id="{659E8FA6-C248-FBB1-2F3B-4FFDC561C3BB}"/>
              </a:ext>
            </a:extLst>
          </p:cNvPr>
          <p:cNvSpPr txBox="1"/>
          <p:nvPr/>
        </p:nvSpPr>
        <p:spPr>
          <a:xfrm>
            <a:off x="762000" y="1569116"/>
            <a:ext cx="838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Forecasting engine combines ML probabilities from host and network-side behaviors to provide Forecasting for the next 24 hours. </a:t>
            </a:r>
          </a:p>
        </p:txBody>
      </p:sp>
    </p:spTree>
    <p:extLst>
      <p:ext uri="{BB962C8B-B14F-4D97-AF65-F5344CB8AC3E}">
        <p14:creationId xmlns:p14="http://schemas.microsoft.com/office/powerpoint/2010/main" val="37863330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0433F740-C753-632E-FA8F-2FFF32A6FEF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C2B1B0E-3A95-38D8-C68C-389F644DF9F9}"/>
              </a:ext>
            </a:extLst>
          </p:cNvPr>
          <p:cNvSpPr/>
          <p:nvPr/>
        </p:nvSpPr>
        <p:spPr>
          <a:xfrm>
            <a:off x="10134600" y="152400"/>
            <a:ext cx="1981200" cy="2286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Student Must add a professional photo to this cage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B98E66-DBD5-4B29-AC68-A58A70C64231}"/>
              </a:ext>
            </a:extLst>
          </p:cNvPr>
          <p:cNvSpPr/>
          <p:nvPr/>
        </p:nvSpPr>
        <p:spPr>
          <a:xfrm>
            <a:off x="2632434" y="6492875"/>
            <a:ext cx="6816365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IT22210142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b="1" dirty="0">
                <a:solidFill>
                  <a:schemeClr val="tx1"/>
                </a:solidFill>
              </a:rPr>
              <a:t>Shakya W.A.R</a:t>
            </a:r>
            <a:r>
              <a:rPr lang="en-US" sz="1800" b="1" dirty="0">
                <a:solidFill>
                  <a:schemeClr val="tx1"/>
                </a:solidFill>
              </a:rPr>
              <a:t> 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dirty="0">
                <a:solidFill>
                  <a:schemeClr val="tx1"/>
                </a:solidFill>
              </a:rPr>
              <a:t>R26-CS-006</a:t>
            </a:r>
            <a:endParaRPr lang="en-US" sz="1800" b="0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2366E1-D035-2240-384C-F2EA1E745EC3}"/>
              </a:ext>
            </a:extLst>
          </p:cNvPr>
          <p:cNvSpPr txBox="1"/>
          <p:nvPr/>
        </p:nvSpPr>
        <p:spPr>
          <a:xfrm>
            <a:off x="2895600" y="1456657"/>
            <a:ext cx="60945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</a:rPr>
              <a:t>IT22210142</a:t>
            </a:r>
            <a:r>
              <a:rPr lang="en-US" sz="2400" dirty="0">
                <a:solidFill>
                  <a:schemeClr val="tx1"/>
                </a:solidFill>
              </a:rPr>
              <a:t>   |   </a:t>
            </a:r>
            <a:r>
              <a:rPr lang="en-US" sz="2400" b="1" dirty="0">
                <a:solidFill>
                  <a:schemeClr val="tx1"/>
                </a:solidFill>
              </a:rPr>
              <a:t>Shakya W.A.R   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89C66D-8A17-6933-F190-200B49FE8E8E}"/>
              </a:ext>
            </a:extLst>
          </p:cNvPr>
          <p:cNvSpPr txBox="1"/>
          <p:nvPr/>
        </p:nvSpPr>
        <p:spPr>
          <a:xfrm>
            <a:off x="647700" y="232559"/>
            <a:ext cx="8839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u="sng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Cross-Layer Lateral movement correlation detection engine and XAI dashboard.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DEE13150-51A2-E4E7-1BAF-8130B304CF9F}"/>
              </a:ext>
            </a:extLst>
          </p:cNvPr>
          <p:cNvSpPr txBox="1"/>
          <p:nvPr/>
        </p:nvSpPr>
        <p:spPr>
          <a:xfrm>
            <a:off x="876300" y="2073559"/>
            <a:ext cx="838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Correlates multi-layer IoMT security evidence to reconstruct lateral movement, calculate incident risk, and explain decisions using XAI and MITRE ATT&amp;CK.</a:t>
            </a: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D7138414-9AA9-FF28-784C-6E09645BDBCA}"/>
              </a:ext>
            </a:extLst>
          </p:cNvPr>
          <p:cNvSpPr txBox="1"/>
          <p:nvPr/>
        </p:nvSpPr>
        <p:spPr>
          <a:xfrm>
            <a:off x="228600" y="3244459"/>
            <a:ext cx="6019801" cy="349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00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PP01 Completed Work</a:t>
            </a:r>
            <a:endParaRPr lang="en-US" sz="1700" b="1" dirty="0"/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Identified the </a:t>
            </a:r>
            <a:r>
              <a:rPr lang="en-US" sz="1600" b="1" dirty="0"/>
              <a:t>research gap</a:t>
            </a:r>
            <a:r>
              <a:rPr lang="en-US" sz="1600" dirty="0"/>
              <a:t> and cross-layer correlation concept.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Designed the </a:t>
            </a:r>
            <a:r>
              <a:rPr lang="en-US" sz="1600" b="1" dirty="0"/>
              <a:t>architecture and correlation workflow</a:t>
            </a:r>
            <a:r>
              <a:rPr lang="en-US" sz="1600" dirty="0"/>
              <a:t>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Defined required </a:t>
            </a:r>
            <a:r>
              <a:rPr lang="en-US" sz="1600" b="1" dirty="0"/>
              <a:t>network, endpoint, and memory evidence</a:t>
            </a:r>
            <a:r>
              <a:rPr lang="en-US" sz="1600" dirty="0"/>
              <a:t>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Planned </a:t>
            </a:r>
            <a:r>
              <a:rPr lang="en-US" sz="1600" b="1" dirty="0"/>
              <a:t>graph-based detection, XAI, and SOC dashboard</a:t>
            </a:r>
            <a:r>
              <a:rPr lang="en-US" sz="1600" dirty="0"/>
              <a:t>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Developed initial prototypes and integration design.</a:t>
            </a:r>
          </a:p>
          <a:p>
            <a:pPr>
              <a:buNone/>
            </a:pPr>
            <a:endParaRPr lang="en-US" sz="1600" dirty="0"/>
          </a:p>
          <a:p>
            <a:endParaRPr lang="en-US" sz="1700" dirty="0"/>
          </a:p>
        </p:txBody>
      </p:sp>
      <p:sp>
        <p:nvSpPr>
          <p:cNvPr id="16" name="TextBox 7">
            <a:extLst>
              <a:ext uri="{FF2B5EF4-FFF2-40B4-BE49-F238E27FC236}">
                <a16:creationId xmlns:a16="http://schemas.microsoft.com/office/drawing/2014/main" id="{8F4CDD5F-4902-10C3-19D8-233E2162D200}"/>
              </a:ext>
            </a:extLst>
          </p:cNvPr>
          <p:cNvSpPr txBox="1"/>
          <p:nvPr/>
        </p:nvSpPr>
        <p:spPr>
          <a:xfrm>
            <a:off x="6400799" y="3269264"/>
            <a:ext cx="6019801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00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b="1" dirty="0"/>
              <a:t>Current Progress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Built the </a:t>
            </a:r>
            <a:r>
              <a:rPr lang="en-US" sz="1600" b="1" dirty="0"/>
              <a:t>Component 4 correlation backend</a:t>
            </a:r>
            <a:r>
              <a:rPr lang="en-US" sz="1600" dirty="0"/>
              <a:t>.</a:t>
            </a:r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Implemented ML, graph, temporal and memory/network correlation.</a:t>
            </a:r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Implemented SHAP-based XAI + MITRE ATT&amp;CK mapping.</a:t>
            </a:r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Added SQLite persistence and SOC/XAI dashboard.</a:t>
            </a:r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None/>
            </a:pPr>
            <a:endParaRPr lang="en-US" sz="1600" dirty="0"/>
          </a:p>
          <a:p>
            <a:endParaRPr lang="en-US" sz="17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5036C5-3869-C566-7387-32BC13228DD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4600" y="152400"/>
            <a:ext cx="2057400" cy="2308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4099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D0BB0-B4AD-62E6-42B7-56BB17843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4E305248-2143-AB6B-EDA5-E496F6542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37319"/>
            <a:ext cx="10363200" cy="1554162"/>
          </a:xfrm>
        </p:spPr>
        <p:txBody>
          <a:bodyPr>
            <a:normAutofit/>
          </a:bodyPr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1F5B488-1FAE-3202-E50D-46F52103DCAD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0" y="2362200"/>
            <a:ext cx="10058400" cy="358140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30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03FD461-E305-7888-E94C-D146B9092BF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14"/>
          <a:stretch>
            <a:fillRect/>
          </a:stretch>
        </p:blipFill>
        <p:spPr>
          <a:xfrm>
            <a:off x="646881" y="228600"/>
            <a:ext cx="10898237" cy="6096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8CEB3CD-1B18-6574-3F59-E2E266BB40CC}"/>
              </a:ext>
            </a:extLst>
          </p:cNvPr>
          <p:cNvSpPr/>
          <p:nvPr/>
        </p:nvSpPr>
        <p:spPr>
          <a:xfrm>
            <a:off x="4495800" y="1524000"/>
            <a:ext cx="3276600" cy="457200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371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99FF96-EFC4-BC24-AAA4-CB4330BAA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97F13-FD70-423F-9884-F6C43E0DBC6C}" type="datetime1">
              <a:rPr lang="en-US" smtClean="0"/>
              <a:t>8/31/2026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C137EC-133D-5551-1754-3D63B0BC1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666810-C4FA-42C7-3654-3018C375D7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8738" y="68263"/>
            <a:ext cx="6237287" cy="62372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793088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1337832b-e06e-4e87-85f5-ecfde68f9c8e}" enabled="1" method="Standard" siteId="{44e3cf94-19c9-4e32-96c3-14f5bf01391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4810</TotalTime>
  <Words>693</Words>
  <Application>Microsoft Office PowerPoint</Application>
  <PresentationFormat>Widescreen</PresentationFormat>
  <Paragraphs>116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Times New Roman</vt:lpstr>
      <vt:lpstr>Wingdings</vt:lpstr>
      <vt:lpstr>Office Theme</vt:lpstr>
      <vt:lpstr>Hybrid AI-based Detection of fileless malware in IOMT Healthcare systems</vt:lpstr>
      <vt:lpstr>Team Members </vt:lpstr>
      <vt:lpstr>Hybrid AI-based Detection of fileless malware in IOMT Healthcare systems  </vt:lpstr>
      <vt:lpstr>IT22108272  CHATHURANGA L A S</vt:lpstr>
      <vt:lpstr>PowerPoint Presentation</vt:lpstr>
      <vt:lpstr>PowerPoint Presentation</vt:lpstr>
      <vt:lpstr>PowerPoint Presentation</vt:lpstr>
      <vt:lpstr>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Hybrid AI-based Detection of fileless malware in IOMT Healthcare systems</dc:title>
  <dc:creator>Koliya Pulasinghe</dc:creator>
  <cp:lastModifiedBy>SHAKYA W A R it22210142</cp:lastModifiedBy>
  <cp:revision>24</cp:revision>
  <dcterms:created xsi:type="dcterms:W3CDTF">2025-08-25T09:34:25Z</dcterms:created>
  <dcterms:modified xsi:type="dcterms:W3CDTF">2026-08-31T02:30:34Z</dcterms:modified>
</cp:coreProperties>
</file>